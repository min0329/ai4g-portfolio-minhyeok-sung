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Nova Bold" charset="1" panose="020B0804020202020204"/>
      <p:regular r:id="rId15"/>
    </p:embeddedFont>
    <p:embeddedFont>
      <p:font typeface="Arial Nova" charset="1" panose="020B05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www.youtube.com/watch?app=desktop&amp;v=mwnZlO1FAUs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B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703559"/>
            <a:ext cx="14368434" cy="179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46"/>
              </a:lnSpc>
            </a:pPr>
            <a:r>
              <a:rPr lang="en-US" sz="15682" spc="-1097" b="true">
                <a:solidFill>
                  <a:srgbClr val="E4E2D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Inclu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727440"/>
            <a:ext cx="10823578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4E2DD"/>
                </a:solidFill>
                <a:latin typeface="Arial Nova"/>
                <a:ea typeface="Arial Nova"/>
                <a:cs typeface="Arial Nova"/>
                <a:sym typeface="Arial Nova"/>
              </a:rPr>
              <a:t>FIND YOUR PLACE, FEEL INCLUDED.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0253" y="971550"/>
            <a:ext cx="799381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4E2DD"/>
                </a:solidFill>
                <a:latin typeface="Arial Nova"/>
                <a:ea typeface="Arial Nova"/>
                <a:cs typeface="Arial Nova"/>
                <a:sym typeface="Arial Nova"/>
              </a:rPr>
              <a:t>AI FOR GOOD | SDG 10 - REDUCED INEQUALITY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71550"/>
            <a:ext cx="799381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4E2DD"/>
                </a:solidFill>
                <a:latin typeface="Arial Nova"/>
                <a:ea typeface="Arial Nova"/>
                <a:cs typeface="Arial Nova"/>
                <a:sym typeface="Arial Nova"/>
              </a:rPr>
              <a:t>MINHYEOK  X  IQBAL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7041" y="8143351"/>
            <a:ext cx="415075" cy="777659"/>
          </a:xfrm>
          <a:custGeom>
            <a:avLst/>
            <a:gdLst/>
            <a:ahLst/>
            <a:cxnLst/>
            <a:rect r="r" b="b" t="t" l="l"/>
            <a:pathLst>
              <a:path h="777659" w="415075">
                <a:moveTo>
                  <a:pt x="0" y="0"/>
                </a:moveTo>
                <a:lnTo>
                  <a:pt x="415076" y="0"/>
                </a:lnTo>
                <a:lnTo>
                  <a:pt x="415076" y="777658"/>
                </a:lnTo>
                <a:lnTo>
                  <a:pt x="0" y="777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962885"/>
            <a:ext cx="4317000" cy="4295415"/>
          </a:xfrm>
          <a:custGeom>
            <a:avLst/>
            <a:gdLst/>
            <a:ahLst/>
            <a:cxnLst/>
            <a:rect r="r" b="b" t="t" l="l"/>
            <a:pathLst>
              <a:path h="4295415" w="4317000">
                <a:moveTo>
                  <a:pt x="0" y="0"/>
                </a:moveTo>
                <a:lnTo>
                  <a:pt x="4317000" y="0"/>
                </a:lnTo>
                <a:lnTo>
                  <a:pt x="4317000" y="4295415"/>
                </a:lnTo>
                <a:lnTo>
                  <a:pt x="0" y="4295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Social Inclusion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03647" y="4896210"/>
            <a:ext cx="10255653" cy="56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b="true" sz="3354" spc="-83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UN DEFINES TARGET 10.2 AS: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03647" y="5874707"/>
            <a:ext cx="10255653" cy="91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6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“By 2030, empower and promote the social, economic and political inclusion of all...”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3647" y="7367634"/>
            <a:ext cx="10255653" cy="56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3354" spc="-83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WHY </a:t>
            </a:r>
            <a:r>
              <a:rPr lang="en-US" sz="3354" spc="-83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Inclu</a:t>
            </a:r>
            <a:r>
              <a:rPr lang="en-US" sz="3354" spc="-83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FITS 10.2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03647" y="8346132"/>
            <a:ext cx="10255653" cy="91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655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Inclu</a:t>
            </a:r>
            <a:r>
              <a:rPr lang="en-US" sz="26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is addressing a more specific aspect of </a:t>
            </a:r>
            <a:r>
              <a:rPr lang="en-US" sz="2655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social inclusion, </a:t>
            </a:r>
          </a:p>
          <a:p>
            <a:pPr algn="l">
              <a:lnSpc>
                <a:spcPts val="3718"/>
              </a:lnSpc>
            </a:pPr>
            <a:r>
              <a:rPr lang="en-US" sz="26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while reducing barriers to social and community participation.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47151"/>
            <a:ext cx="10823578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SDG 10. 2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361416"/>
            <a:ext cx="12632341" cy="69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b="true" sz="4132" spc="-103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INEQUALITY IN SOCIAL INCLUSION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562260"/>
            <a:ext cx="13819929" cy="169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</a:pPr>
            <a:r>
              <a:rPr lang="en-US" sz="3271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Some people, particularly newcomers or people facing language/social barriers, may have more difficulty discovering and accessing community opportunities and support.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07786" y="2266450"/>
            <a:ext cx="1255151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Unequal access to community connections and local support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98992"/>
            <a:ext cx="6385149" cy="6809992"/>
          </a:xfrm>
          <a:custGeom>
            <a:avLst/>
            <a:gdLst/>
            <a:ahLst/>
            <a:cxnLst/>
            <a:rect r="r" b="b" t="t" l="l"/>
            <a:pathLst>
              <a:path h="6809992" w="6385149">
                <a:moveTo>
                  <a:pt x="0" y="0"/>
                </a:moveTo>
                <a:lnTo>
                  <a:pt x="6385149" y="0"/>
                </a:lnTo>
                <a:lnTo>
                  <a:pt x="6385149" y="6809992"/>
                </a:lnTo>
                <a:lnTo>
                  <a:pt x="0" y="6809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9907" y="3952455"/>
            <a:ext cx="9099393" cy="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7"/>
              </a:lnSpc>
            </a:pPr>
            <a:r>
              <a:rPr lang="en-US" b="true" sz="2976" spc="-74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STRONG LONELINESS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59907" y="4822781"/>
            <a:ext cx="9099393" cy="79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Strong loneliness is over </a:t>
            </a:r>
            <a:r>
              <a:rPr lang="en-US" sz="2356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2X higher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among </a:t>
            </a: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non-European migrants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(</a:t>
            </a: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19.9%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) than Dsutch-born people (</a:t>
            </a: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9.1%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59907" y="6145242"/>
            <a:ext cx="9099393" cy="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7"/>
              </a:lnSpc>
            </a:pPr>
            <a:r>
              <a:rPr lang="en-US" sz="2976" spc="-74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Target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9907" y="7015569"/>
            <a:ext cx="9099393" cy="79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People aged 15 and older born outside the NL (both European &amp; non-European origin)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47151"/>
            <a:ext cx="1623060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Social-Loneliness Gap among Migrants born Outside the NL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7200" y="9521162"/>
            <a:ext cx="1926648" cy="38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(CBS, 2024)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378481"/>
            <a:ext cx="4929110" cy="4879819"/>
          </a:xfrm>
          <a:custGeom>
            <a:avLst/>
            <a:gdLst/>
            <a:ahLst/>
            <a:cxnLst/>
            <a:rect r="r" b="b" t="t" l="l"/>
            <a:pathLst>
              <a:path h="4879819" w="4929110">
                <a:moveTo>
                  <a:pt x="0" y="0"/>
                </a:moveTo>
                <a:lnTo>
                  <a:pt x="4929110" y="0"/>
                </a:lnTo>
                <a:lnTo>
                  <a:pt x="4929110" y="4879819"/>
                </a:lnTo>
                <a:lnTo>
                  <a:pt x="0" y="487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9907" y="4795127"/>
            <a:ext cx="9099393" cy="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7"/>
              </a:lnSpc>
            </a:pPr>
            <a:r>
              <a:rPr lang="en-US" b="true" sz="2976" spc="-74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UNEQUAL COMMUNITY PARTICIPATION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59907" y="5665453"/>
            <a:ext cx="9099393" cy="120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Migrants participate less in community life:</a:t>
            </a:r>
          </a:p>
          <a:p>
            <a:pPr algn="l">
              <a:lnSpc>
                <a:spcPts val="3298"/>
              </a:lnSpc>
            </a:pPr>
            <a:r>
              <a:rPr lang="en-US" sz="2356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28%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jo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i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n </a:t>
            </a:r>
            <a:r>
              <a:rPr lang="en-US" sz="2356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associati</a:t>
            </a:r>
            <a:r>
              <a:rPr lang="en-US" sz="2356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on</a:t>
            </a:r>
            <a:r>
              <a:rPr lang="en-US" sz="2356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s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m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o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nt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hly v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s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. </a:t>
            </a:r>
            <a:r>
              <a:rPr lang="en-US" sz="2356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46%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of </a:t>
            </a: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Dutch-origin residents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,</a:t>
            </a:r>
          </a:p>
          <a:p>
            <a:pPr algn="l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and</a:t>
            </a: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35%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356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volunteer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vs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50%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59907" y="7590577"/>
            <a:ext cx="9099393" cy="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7"/>
              </a:lnSpc>
            </a:pPr>
            <a:r>
              <a:rPr lang="en-US" sz="2976" spc="-74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Target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9907" y="8460903"/>
            <a:ext cx="9099393" cy="79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People with migration background (first &amp; second generation) in NL</a:t>
            </a:r>
          </a:p>
          <a:p>
            <a:pPr algn="l">
              <a:lnSpc>
                <a:spcPts val="329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47151"/>
            <a:ext cx="16230600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Participation Gap in Community Activities among people with a Migration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32652" y="6850330"/>
            <a:ext cx="1926648" cy="38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8"/>
              </a:lnSpc>
            </a:pP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(CBS, 2024)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Target Group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87509"/>
            <a:ext cx="13836489" cy="188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Limited Dutch language proficiency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Limited contact with Dutch-speaking social networks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Refugees, family migrants, and labour migrants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02632"/>
            <a:ext cx="12551514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Recent Newcomers &amp; Migrants in The Hague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448150"/>
            <a:ext cx="15215198" cy="79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6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58% of The Hague’s residents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have a migration background (Municipality of The Hague)</a:t>
            </a:r>
          </a:p>
          <a:p>
            <a:pPr algn="l">
              <a:lnSpc>
                <a:spcPts val="3298"/>
              </a:lnSpc>
            </a:pPr>
            <a:r>
              <a:rPr lang="en-US" sz="23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Hague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has </a:t>
            </a:r>
            <a:r>
              <a:rPr lang="en-US" sz="2356">
                <a:solidFill>
                  <a:srgbClr val="DB4A2B"/>
                </a:solidFill>
                <a:latin typeface="Arial Nova"/>
                <a:ea typeface="Arial Nova"/>
                <a:cs typeface="Arial Nova"/>
                <a:sym typeface="Arial Nova"/>
              </a:rPr>
              <a:t>the highest loneliness rate</a:t>
            </a:r>
            <a:r>
              <a:rPr lang="en-US" sz="2356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 among the four major Dutch cities (GGD Haaglanden,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868611"/>
            <a:ext cx="3384301" cy="41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456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Rationale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424013" y="3789200"/>
            <a:ext cx="1719746" cy="988854"/>
          </a:xfrm>
          <a:custGeom>
            <a:avLst/>
            <a:gdLst/>
            <a:ahLst/>
            <a:cxnLst/>
            <a:rect r="r" b="b" t="t" l="l"/>
            <a:pathLst>
              <a:path h="988854" w="1719746">
                <a:moveTo>
                  <a:pt x="0" y="0"/>
                </a:moveTo>
                <a:lnTo>
                  <a:pt x="1719746" y="0"/>
                </a:lnTo>
                <a:lnTo>
                  <a:pt x="1719746" y="988854"/>
                </a:lnTo>
                <a:lnTo>
                  <a:pt x="0" y="988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Solution: Inclu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08434"/>
            <a:ext cx="13499226" cy="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7"/>
              </a:lnSpc>
            </a:pPr>
            <a:r>
              <a:rPr lang="en-US" b="true" sz="2976" spc="-74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EASIER ACCESS TO SOCIAL PARTICIPATION AND COMMUNITY INCLUSION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47151"/>
            <a:ext cx="16230600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An AI-powered guide that helps people discover relevant community resources and opportunities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98587"/>
            <a:ext cx="16230600" cy="11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077" indent="-316538" lvl="1">
              <a:lnSpc>
                <a:spcPts val="4105"/>
              </a:lnSpc>
              <a:buAutoNum type="arabicPeriod" startAt="1"/>
            </a:pPr>
            <a:r>
              <a:rPr lang="en-US" b="true" sz="2932" spc="-73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AI-powered Recommendations tailored to regidents’ interests, language, age, and location.</a:t>
            </a:r>
          </a:p>
          <a:p>
            <a:pPr algn="l" marL="633077" indent="-316538" lvl="1">
              <a:lnSpc>
                <a:spcPts val="6216"/>
              </a:lnSpc>
              <a:buAutoNum type="arabicPeriod" startAt="1"/>
            </a:pPr>
            <a:r>
              <a:rPr lang="en-US" b="true" sz="2932" spc="-73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Categorising diverse communities with easy guides including joining steps &amp; links.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2015771" cy="7141874"/>
          </a:xfrm>
          <a:custGeom>
            <a:avLst/>
            <a:gdLst/>
            <a:ahLst/>
            <a:cxnLst/>
            <a:rect r="r" b="b" t="t" l="l"/>
            <a:pathLst>
              <a:path h="7141874" w="12015771">
                <a:moveTo>
                  <a:pt x="0" y="0"/>
                </a:moveTo>
                <a:lnTo>
                  <a:pt x="12015771" y="0"/>
                </a:lnTo>
                <a:lnTo>
                  <a:pt x="12015771" y="7141874"/>
                </a:lnTo>
                <a:lnTo>
                  <a:pt x="0" y="7141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466253"/>
            <a:ext cx="11388430" cy="102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946" u="sng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  <a:hlinkClick r:id="rId3" tooltip="https://www.youtube.com/watch?app=desktop&amp;v=mwnZlO1FAUs"/>
              </a:rPr>
              <a:t>Demo Link</a:t>
            </a:r>
          </a:p>
          <a:p>
            <a:pPr algn="l">
              <a:lnSpc>
                <a:spcPts val="4027"/>
              </a:lnSpc>
            </a:pPr>
            <a:r>
              <a:rPr lang="en-US" sz="2876" u="sng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https://www.youtube.com/watch?app=desktop&amp;v=mwnZlO1FAUs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Ethical Reflaction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46605"/>
            <a:ext cx="16230600" cy="25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 of AI generating inaccurate or outdated community resources.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 of stereotyping migrants or socially isolated people.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 of excluding people who lack digital literacy or internet access.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Privacy concerns when users describe personal circumstances.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DAHWBfevbzw</dc:identifier>
  <dcterms:modified xsi:type="dcterms:W3CDTF">2011-08-01T06:04:30Z</dcterms:modified>
  <cp:revision>1</cp:revision>
  <dc:title>AI4G W3 Hackathon presentation (Min X Iqbal)</dc:title>
</cp:coreProperties>
</file>