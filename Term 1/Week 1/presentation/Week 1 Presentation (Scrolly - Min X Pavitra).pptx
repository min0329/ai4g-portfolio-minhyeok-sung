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Bold" charset="1" panose="00000800000000000000"/>
      <p:regular r:id="rId12"/>
    </p:embeddedFont>
    <p:embeddedFont>
      <p:font typeface="Poppins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VAEDFdu3kAY.mp4" Type="http://schemas.openxmlformats.org/officeDocument/2006/relationships/video"/><Relationship Id="rId4" Target="../media/VAEDFdu3kAY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VAHU0EP7QAY.mp4" Type="http://schemas.openxmlformats.org/officeDocument/2006/relationships/video"/><Relationship Id="rId4" Target="../media/VAHU0EP7QAY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58704">
            <a:off x="-1052305" y="5784114"/>
            <a:ext cx="5102352" cy="8229600"/>
          </a:xfrm>
          <a:custGeom>
            <a:avLst/>
            <a:gdLst/>
            <a:ahLst/>
            <a:cxnLst/>
            <a:rect r="r" b="b" t="t" l="l"/>
            <a:pathLst>
              <a:path h="8229600" w="5102352">
                <a:moveTo>
                  <a:pt x="0" y="0"/>
                </a:moveTo>
                <a:lnTo>
                  <a:pt x="5102352" y="0"/>
                </a:lnTo>
                <a:lnTo>
                  <a:pt x="5102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50968">
            <a:off x="4305160" y="8495462"/>
            <a:ext cx="1241151" cy="1306475"/>
          </a:xfrm>
          <a:custGeom>
            <a:avLst/>
            <a:gdLst/>
            <a:ahLst/>
            <a:cxnLst/>
            <a:rect r="r" b="b" t="t" l="l"/>
            <a:pathLst>
              <a:path h="1306475" w="1241151">
                <a:moveTo>
                  <a:pt x="0" y="0"/>
                </a:moveTo>
                <a:lnTo>
                  <a:pt x="1241151" y="0"/>
                </a:lnTo>
                <a:lnTo>
                  <a:pt x="1241151" y="1306475"/>
                </a:lnTo>
                <a:lnTo>
                  <a:pt x="0" y="1306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72231">
            <a:off x="239863" y="6460097"/>
            <a:ext cx="3432095" cy="4460963"/>
          </a:xfrm>
          <a:custGeom>
            <a:avLst/>
            <a:gdLst/>
            <a:ahLst/>
            <a:cxnLst/>
            <a:rect r="r" b="b" t="t" l="l"/>
            <a:pathLst>
              <a:path h="4460963" w="3432095">
                <a:moveTo>
                  <a:pt x="0" y="0"/>
                </a:moveTo>
                <a:lnTo>
                  <a:pt x="3432095" y="0"/>
                </a:lnTo>
                <a:lnTo>
                  <a:pt x="3432095" y="4460963"/>
                </a:lnTo>
                <a:lnTo>
                  <a:pt x="0" y="4460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999" r="0" b="-5479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25736" y="3198358"/>
            <a:ext cx="12333564" cy="264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457"/>
              </a:lnSpc>
            </a:pPr>
            <a:r>
              <a:rPr lang="en-US" b="true" sz="22544" spc="-586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Scrolly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71550"/>
            <a:ext cx="2901562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1999" spc="1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  <a:p>
            <a:pPr algn="l">
              <a:lnSpc>
                <a:spcPts val="2799"/>
              </a:lnSpc>
            </a:pPr>
            <a:r>
              <a:rPr lang="en-US" b="true" sz="1999" spc="1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MIN</a:t>
            </a:r>
          </a:p>
          <a:p>
            <a:pPr algn="l">
              <a:lnSpc>
                <a:spcPts val="2799"/>
              </a:lnSpc>
            </a:pPr>
            <a:r>
              <a:rPr lang="en-US" b="true" sz="1999" spc="1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PAVITRA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70084" y="971550"/>
            <a:ext cx="308921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SEPTEMBER </a:t>
            </a:r>
            <a:r>
              <a:rPr lang="en-US" sz="1999" spc="19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11, 2026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01975" y="6615565"/>
            <a:ext cx="12757325" cy="170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sz="4499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Doomscrolling</a:t>
            </a:r>
          </a:p>
          <a:p>
            <a:pPr algn="r">
              <a:lnSpc>
                <a:spcPts val="3500"/>
              </a:lnSpc>
            </a:pPr>
            <a:r>
              <a:rPr lang="en-US" sz="2500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r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SDG-4 QUALITY EDUCATION  |  AI powered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437" y="1452038"/>
            <a:ext cx="5475915" cy="2323595"/>
            <a:chOff x="0" y="0"/>
            <a:chExt cx="1296190" cy="5500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6190" cy="550012"/>
            </a:xfrm>
            <a:custGeom>
              <a:avLst/>
              <a:gdLst/>
              <a:ahLst/>
              <a:cxnLst/>
              <a:rect r="r" b="b" t="t" l="l"/>
              <a:pathLst>
                <a:path h="550012" w="1296190">
                  <a:moveTo>
                    <a:pt x="39587" y="0"/>
                  </a:moveTo>
                  <a:lnTo>
                    <a:pt x="1256603" y="0"/>
                  </a:lnTo>
                  <a:cubicBezTo>
                    <a:pt x="1278466" y="0"/>
                    <a:pt x="1296190" y="17724"/>
                    <a:pt x="1296190" y="39587"/>
                  </a:cubicBezTo>
                  <a:lnTo>
                    <a:pt x="1296190" y="510425"/>
                  </a:lnTo>
                  <a:cubicBezTo>
                    <a:pt x="1296190" y="520925"/>
                    <a:pt x="1292019" y="530994"/>
                    <a:pt x="1284595" y="538418"/>
                  </a:cubicBezTo>
                  <a:cubicBezTo>
                    <a:pt x="1277171" y="545842"/>
                    <a:pt x="1267102" y="550012"/>
                    <a:pt x="1256603" y="550012"/>
                  </a:cubicBezTo>
                  <a:lnTo>
                    <a:pt x="39587" y="550012"/>
                  </a:lnTo>
                  <a:cubicBezTo>
                    <a:pt x="29088" y="550012"/>
                    <a:pt x="19019" y="545842"/>
                    <a:pt x="11595" y="538418"/>
                  </a:cubicBezTo>
                  <a:cubicBezTo>
                    <a:pt x="4171" y="530994"/>
                    <a:pt x="0" y="520925"/>
                    <a:pt x="0" y="510425"/>
                  </a:cubicBezTo>
                  <a:lnTo>
                    <a:pt x="0" y="39587"/>
                  </a:lnTo>
                  <a:cubicBezTo>
                    <a:pt x="0" y="29088"/>
                    <a:pt x="4171" y="19019"/>
                    <a:pt x="11595" y="11595"/>
                  </a:cubicBezTo>
                  <a:cubicBezTo>
                    <a:pt x="19019" y="4171"/>
                    <a:pt x="29088" y="0"/>
                    <a:pt x="39587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96190" cy="588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8706" y="4061576"/>
            <a:ext cx="5475915" cy="2243818"/>
            <a:chOff x="0" y="0"/>
            <a:chExt cx="1296190" cy="531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6190" cy="531128"/>
            </a:xfrm>
            <a:custGeom>
              <a:avLst/>
              <a:gdLst/>
              <a:ahLst/>
              <a:cxnLst/>
              <a:rect r="r" b="b" t="t" l="l"/>
              <a:pathLst>
                <a:path h="531128" w="1296190">
                  <a:moveTo>
                    <a:pt x="39587" y="0"/>
                  </a:moveTo>
                  <a:lnTo>
                    <a:pt x="1256603" y="0"/>
                  </a:lnTo>
                  <a:cubicBezTo>
                    <a:pt x="1278466" y="0"/>
                    <a:pt x="1296190" y="17724"/>
                    <a:pt x="1296190" y="39587"/>
                  </a:cubicBezTo>
                  <a:lnTo>
                    <a:pt x="1296190" y="491542"/>
                  </a:lnTo>
                  <a:cubicBezTo>
                    <a:pt x="1296190" y="502041"/>
                    <a:pt x="1292019" y="512110"/>
                    <a:pt x="1284595" y="519534"/>
                  </a:cubicBezTo>
                  <a:cubicBezTo>
                    <a:pt x="1277171" y="526958"/>
                    <a:pt x="1267102" y="531128"/>
                    <a:pt x="1256603" y="531128"/>
                  </a:cubicBezTo>
                  <a:lnTo>
                    <a:pt x="39587" y="531128"/>
                  </a:lnTo>
                  <a:cubicBezTo>
                    <a:pt x="17724" y="531128"/>
                    <a:pt x="0" y="513405"/>
                    <a:pt x="0" y="491542"/>
                  </a:cubicBezTo>
                  <a:lnTo>
                    <a:pt x="0" y="39587"/>
                  </a:lnTo>
                  <a:cubicBezTo>
                    <a:pt x="0" y="29088"/>
                    <a:pt x="4171" y="19019"/>
                    <a:pt x="11595" y="11595"/>
                  </a:cubicBezTo>
                  <a:cubicBezTo>
                    <a:pt x="19019" y="4171"/>
                    <a:pt x="29088" y="0"/>
                    <a:pt x="39587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6190" cy="569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8706" y="6591144"/>
            <a:ext cx="5475915" cy="2243818"/>
            <a:chOff x="0" y="0"/>
            <a:chExt cx="1296190" cy="531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6190" cy="531128"/>
            </a:xfrm>
            <a:custGeom>
              <a:avLst/>
              <a:gdLst/>
              <a:ahLst/>
              <a:cxnLst/>
              <a:rect r="r" b="b" t="t" l="l"/>
              <a:pathLst>
                <a:path h="531128" w="1296190">
                  <a:moveTo>
                    <a:pt x="39587" y="0"/>
                  </a:moveTo>
                  <a:lnTo>
                    <a:pt x="1256603" y="0"/>
                  </a:lnTo>
                  <a:cubicBezTo>
                    <a:pt x="1278466" y="0"/>
                    <a:pt x="1296190" y="17724"/>
                    <a:pt x="1296190" y="39587"/>
                  </a:cubicBezTo>
                  <a:lnTo>
                    <a:pt x="1296190" y="491542"/>
                  </a:lnTo>
                  <a:cubicBezTo>
                    <a:pt x="1296190" y="502041"/>
                    <a:pt x="1292019" y="512110"/>
                    <a:pt x="1284595" y="519534"/>
                  </a:cubicBezTo>
                  <a:cubicBezTo>
                    <a:pt x="1277171" y="526958"/>
                    <a:pt x="1267102" y="531128"/>
                    <a:pt x="1256603" y="531128"/>
                  </a:cubicBezTo>
                  <a:lnTo>
                    <a:pt x="39587" y="531128"/>
                  </a:lnTo>
                  <a:cubicBezTo>
                    <a:pt x="17724" y="531128"/>
                    <a:pt x="0" y="513405"/>
                    <a:pt x="0" y="491542"/>
                  </a:cubicBezTo>
                  <a:lnTo>
                    <a:pt x="0" y="39587"/>
                  </a:lnTo>
                  <a:cubicBezTo>
                    <a:pt x="0" y="29088"/>
                    <a:pt x="4171" y="19019"/>
                    <a:pt x="11595" y="11595"/>
                  </a:cubicBezTo>
                  <a:cubicBezTo>
                    <a:pt x="19019" y="4171"/>
                    <a:pt x="29088" y="0"/>
                    <a:pt x="39587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6190" cy="569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827815" y="1970165"/>
            <a:ext cx="6398326" cy="3610936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748706" y="1983261"/>
            <a:ext cx="5467646" cy="115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177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Long textbooks, </a:t>
            </a:r>
            <a:r>
              <a:rPr lang="en-US" b="true" sz="21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articles, and </a:t>
            </a:r>
          </a:p>
          <a:p>
            <a:pPr algn="ctr">
              <a:lnSpc>
                <a:spcPts val="3048"/>
              </a:lnSpc>
            </a:pPr>
            <a:r>
              <a:rPr lang="en-US" b="true" sz="21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lecture notes can be difficult and overwhelming to study.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8706" y="4572961"/>
            <a:ext cx="5475915" cy="115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b="true" sz="21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Stud</a:t>
            </a:r>
            <a:r>
              <a:rPr lang="en-US" b="true" sz="21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ents often lose focus when dealing with large blocks of information.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86862" y="6018862"/>
            <a:ext cx="6290945" cy="24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898"/>
              </a:lnSpc>
            </a:pPr>
            <a:r>
              <a:rPr lang="en-US" b="true" sz="9079" spc="-444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the problem?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8706" y="7102529"/>
            <a:ext cx="5475915" cy="115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177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concepts can be</a:t>
            </a:r>
          </a:p>
          <a:p>
            <a:pPr algn="ctr">
              <a:lnSpc>
                <a:spcPts val="3048"/>
              </a:lnSpc>
            </a:pPr>
            <a:r>
              <a:rPr lang="en-US" sz="2177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hard to understand, remember, </a:t>
            </a:r>
          </a:p>
          <a:p>
            <a:pPr algn="ctr">
              <a:lnSpc>
                <a:spcPts val="3048"/>
              </a:lnSpc>
            </a:pPr>
            <a:r>
              <a:rPr lang="en-US" b="true" sz="21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and revise.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70084" y="952500"/>
            <a:ext cx="308921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 spc="2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Scrolly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2776" y="1820737"/>
            <a:ext cx="14842448" cy="559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29"/>
              </a:lnSpc>
            </a:pPr>
            <a:r>
              <a:rPr lang="en-US" sz="12247" spc="-600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What if studying worked like</a:t>
            </a:r>
            <a:r>
              <a:rPr lang="en-US" b="true" sz="12247" spc="-6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 scrolling?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70084" y="952500"/>
            <a:ext cx="308921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 spc="2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Scrolly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09166" y="8119810"/>
            <a:ext cx="12269667" cy="66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8"/>
              </a:lnSpc>
              <a:spcBef>
                <a:spcPct val="0"/>
              </a:spcBef>
            </a:pPr>
            <a:r>
              <a:rPr lang="en-US" b="true" sz="36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As You Love Doomscrolling...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219403" y="1735019"/>
            <a:ext cx="3699728" cy="739945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1143000"/>
            <a:ext cx="8701643" cy="126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9"/>
              </a:lnSpc>
            </a:pPr>
            <a:r>
              <a:rPr lang="en-US" sz="9124" spc="-447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Our Idea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0084" y="952500"/>
            <a:ext cx="308921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 spc="2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Scrolly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4147" y="4412992"/>
            <a:ext cx="14190703" cy="1161797"/>
            <a:chOff x="0" y="0"/>
            <a:chExt cx="3359046" cy="275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59046" cy="275006"/>
            </a:xfrm>
            <a:custGeom>
              <a:avLst/>
              <a:gdLst/>
              <a:ahLst/>
              <a:cxnLst/>
              <a:rect r="r" b="b" t="t" l="l"/>
              <a:pathLst>
                <a:path h="275006" w="3359046">
                  <a:moveTo>
                    <a:pt x="15276" y="0"/>
                  </a:moveTo>
                  <a:lnTo>
                    <a:pt x="3343770" y="0"/>
                  </a:lnTo>
                  <a:cubicBezTo>
                    <a:pt x="3352207" y="0"/>
                    <a:pt x="3359046" y="6839"/>
                    <a:pt x="3359046" y="15276"/>
                  </a:cubicBezTo>
                  <a:lnTo>
                    <a:pt x="3359046" y="259730"/>
                  </a:lnTo>
                  <a:cubicBezTo>
                    <a:pt x="3359046" y="268167"/>
                    <a:pt x="3352207" y="275006"/>
                    <a:pt x="3343770" y="275006"/>
                  </a:cubicBezTo>
                  <a:lnTo>
                    <a:pt x="15276" y="275006"/>
                  </a:lnTo>
                  <a:cubicBezTo>
                    <a:pt x="6839" y="275006"/>
                    <a:pt x="0" y="268167"/>
                    <a:pt x="0" y="259730"/>
                  </a:cubicBezTo>
                  <a:lnTo>
                    <a:pt x="0" y="15276"/>
                  </a:lnTo>
                  <a:cubicBezTo>
                    <a:pt x="0" y="6839"/>
                    <a:pt x="6839" y="0"/>
                    <a:pt x="15276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59046" cy="313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4147" y="4679566"/>
            <a:ext cx="141907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Turn long study m</a:t>
            </a: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aterial into short, easy-to-understand cards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4147" y="3048442"/>
            <a:ext cx="14190703" cy="1161797"/>
            <a:chOff x="0" y="0"/>
            <a:chExt cx="3359046" cy="2750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59046" cy="275006"/>
            </a:xfrm>
            <a:custGeom>
              <a:avLst/>
              <a:gdLst/>
              <a:ahLst/>
              <a:cxnLst/>
              <a:rect r="r" b="b" t="t" l="l"/>
              <a:pathLst>
                <a:path h="275006" w="3359046">
                  <a:moveTo>
                    <a:pt x="15276" y="0"/>
                  </a:moveTo>
                  <a:lnTo>
                    <a:pt x="3343770" y="0"/>
                  </a:lnTo>
                  <a:cubicBezTo>
                    <a:pt x="3352207" y="0"/>
                    <a:pt x="3359046" y="6839"/>
                    <a:pt x="3359046" y="15276"/>
                  </a:cubicBezTo>
                  <a:lnTo>
                    <a:pt x="3359046" y="259730"/>
                  </a:lnTo>
                  <a:cubicBezTo>
                    <a:pt x="3359046" y="268167"/>
                    <a:pt x="3352207" y="275006"/>
                    <a:pt x="3343770" y="275006"/>
                  </a:cubicBezTo>
                  <a:lnTo>
                    <a:pt x="15276" y="275006"/>
                  </a:lnTo>
                  <a:cubicBezTo>
                    <a:pt x="6839" y="275006"/>
                    <a:pt x="0" y="268167"/>
                    <a:pt x="0" y="259730"/>
                  </a:cubicBezTo>
                  <a:lnTo>
                    <a:pt x="0" y="15276"/>
                  </a:lnTo>
                  <a:cubicBezTo>
                    <a:pt x="0" y="6839"/>
                    <a:pt x="6839" y="0"/>
                    <a:pt x="15276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59046" cy="313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4147" y="3315015"/>
            <a:ext cx="141907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Use a sc</a:t>
            </a: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rolling format that feels familiar and engaging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54147" y="5777543"/>
            <a:ext cx="14190703" cy="1161797"/>
            <a:chOff x="0" y="0"/>
            <a:chExt cx="3359046" cy="2750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59046" cy="275006"/>
            </a:xfrm>
            <a:custGeom>
              <a:avLst/>
              <a:gdLst/>
              <a:ahLst/>
              <a:cxnLst/>
              <a:rect r="r" b="b" t="t" l="l"/>
              <a:pathLst>
                <a:path h="275006" w="3359046">
                  <a:moveTo>
                    <a:pt x="15276" y="0"/>
                  </a:moveTo>
                  <a:lnTo>
                    <a:pt x="3343770" y="0"/>
                  </a:lnTo>
                  <a:cubicBezTo>
                    <a:pt x="3352207" y="0"/>
                    <a:pt x="3359046" y="6839"/>
                    <a:pt x="3359046" y="15276"/>
                  </a:cubicBezTo>
                  <a:lnTo>
                    <a:pt x="3359046" y="259730"/>
                  </a:lnTo>
                  <a:cubicBezTo>
                    <a:pt x="3359046" y="268167"/>
                    <a:pt x="3352207" y="275006"/>
                    <a:pt x="3343770" y="275006"/>
                  </a:cubicBezTo>
                  <a:lnTo>
                    <a:pt x="15276" y="275006"/>
                  </a:lnTo>
                  <a:cubicBezTo>
                    <a:pt x="6839" y="275006"/>
                    <a:pt x="0" y="268167"/>
                    <a:pt x="0" y="259730"/>
                  </a:cubicBezTo>
                  <a:lnTo>
                    <a:pt x="0" y="15276"/>
                  </a:lnTo>
                  <a:cubicBezTo>
                    <a:pt x="0" y="6839"/>
                    <a:pt x="6839" y="0"/>
                    <a:pt x="15276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359046" cy="313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4147" y="6044117"/>
            <a:ext cx="141907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Add quick quizz</a:t>
            </a: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es with instant feedback to make learning active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4147" y="7139365"/>
            <a:ext cx="14190703" cy="1161797"/>
            <a:chOff x="0" y="0"/>
            <a:chExt cx="3359046" cy="2750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59046" cy="275006"/>
            </a:xfrm>
            <a:custGeom>
              <a:avLst/>
              <a:gdLst/>
              <a:ahLst/>
              <a:cxnLst/>
              <a:rect r="r" b="b" t="t" l="l"/>
              <a:pathLst>
                <a:path h="275006" w="3359046">
                  <a:moveTo>
                    <a:pt x="15276" y="0"/>
                  </a:moveTo>
                  <a:lnTo>
                    <a:pt x="3343770" y="0"/>
                  </a:lnTo>
                  <a:cubicBezTo>
                    <a:pt x="3352207" y="0"/>
                    <a:pt x="3359046" y="6839"/>
                    <a:pt x="3359046" y="15276"/>
                  </a:cubicBezTo>
                  <a:lnTo>
                    <a:pt x="3359046" y="259730"/>
                  </a:lnTo>
                  <a:cubicBezTo>
                    <a:pt x="3359046" y="268167"/>
                    <a:pt x="3352207" y="275006"/>
                    <a:pt x="3343770" y="275006"/>
                  </a:cubicBezTo>
                  <a:lnTo>
                    <a:pt x="15276" y="275006"/>
                  </a:lnTo>
                  <a:cubicBezTo>
                    <a:pt x="6839" y="275006"/>
                    <a:pt x="0" y="268167"/>
                    <a:pt x="0" y="259730"/>
                  </a:cubicBezTo>
                  <a:lnTo>
                    <a:pt x="0" y="15276"/>
                  </a:lnTo>
                  <a:cubicBezTo>
                    <a:pt x="0" y="6839"/>
                    <a:pt x="6839" y="0"/>
                    <a:pt x="15276" y="0"/>
                  </a:cubicBezTo>
                  <a:close/>
                </a:path>
              </a:pathLst>
            </a:custGeom>
            <a:ln w="19050" cap="rnd">
              <a:solidFill>
                <a:srgbClr val="BF092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359046" cy="313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54147" y="7405939"/>
            <a:ext cx="141907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Support diverse </a:t>
            </a:r>
            <a:r>
              <a:rPr lang="en-US" b="true" sz="300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 that makes learning more comfortable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5842" r="0" b="0"/>
          <a:stretch>
            <a:fillRect/>
          </a:stretch>
        </p:blipFill>
        <p:spPr>
          <a:xfrm flipH="false" flipV="false" rot="0">
            <a:off x="2861903" y="693353"/>
            <a:ext cx="4270719" cy="8710377"/>
          </a:xfrm>
          <a:prstGeom prst="rect">
            <a:avLst/>
          </a:prstGeom>
          <a:ln w="38100" cap="rnd">
            <a:solidFill>
              <a:srgbClr val="000000"/>
            </a:solidFill>
            <a:prstDash val="solid"/>
          </a:ln>
        </p:spPr>
      </p:pic>
      <p:sp>
        <p:nvSpPr>
          <p:cNvPr name="TextBox 3" id="3"/>
          <p:cNvSpPr txBox="true"/>
          <p:nvPr/>
        </p:nvSpPr>
        <p:spPr>
          <a:xfrm rot="0">
            <a:off x="9422696" y="8916036"/>
            <a:ext cx="7836604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simple, we use the </a:t>
            </a:r>
            <a:r>
              <a:rPr lang="en-US" sz="2200" b="true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Paste. Choose. Scroll. Learn </a:t>
            </a:r>
            <a:r>
              <a:rPr lang="en-US" sz="2200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method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22696" y="6206570"/>
            <a:ext cx="7660491" cy="240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1"/>
              </a:lnSpc>
            </a:pPr>
            <a:r>
              <a:rPr lang="en-US" b="true" sz="9124" spc="-31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9124" spc="-310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ow Scrolly Works?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70084" y="952500"/>
            <a:ext cx="308921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 spc="2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Scrolly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58051" y="5143500"/>
            <a:ext cx="7636772" cy="5193005"/>
          </a:xfrm>
          <a:custGeom>
            <a:avLst/>
            <a:gdLst/>
            <a:ahLst/>
            <a:cxnLst/>
            <a:rect r="r" b="b" t="t" l="l"/>
            <a:pathLst>
              <a:path h="5193005" w="7636772">
                <a:moveTo>
                  <a:pt x="0" y="0"/>
                </a:moveTo>
                <a:lnTo>
                  <a:pt x="7636772" y="0"/>
                </a:lnTo>
                <a:lnTo>
                  <a:pt x="7636772" y="5193005"/>
                </a:lnTo>
                <a:lnTo>
                  <a:pt x="0" y="5193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6166" y="2220121"/>
            <a:ext cx="3085132" cy="3247507"/>
          </a:xfrm>
          <a:custGeom>
            <a:avLst/>
            <a:gdLst/>
            <a:ahLst/>
            <a:cxnLst/>
            <a:rect r="r" b="b" t="t" l="l"/>
            <a:pathLst>
              <a:path h="3247507" w="3085132">
                <a:moveTo>
                  <a:pt x="0" y="0"/>
                </a:moveTo>
                <a:lnTo>
                  <a:pt x="3085132" y="0"/>
                </a:lnTo>
                <a:lnTo>
                  <a:pt x="3085132" y="3247508"/>
                </a:lnTo>
                <a:lnTo>
                  <a:pt x="0" y="3247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94111">
            <a:off x="16460705" y="3862794"/>
            <a:ext cx="1597189" cy="1405527"/>
          </a:xfrm>
          <a:custGeom>
            <a:avLst/>
            <a:gdLst/>
            <a:ahLst/>
            <a:cxnLst/>
            <a:rect r="r" b="b" t="t" l="l"/>
            <a:pathLst>
              <a:path h="1405527" w="1597189">
                <a:moveTo>
                  <a:pt x="0" y="0"/>
                </a:moveTo>
                <a:lnTo>
                  <a:pt x="1597190" y="0"/>
                </a:lnTo>
                <a:lnTo>
                  <a:pt x="1597190" y="1405527"/>
                </a:lnTo>
                <a:lnTo>
                  <a:pt x="0" y="1405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38334" y="4251233"/>
            <a:ext cx="10011331" cy="486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774" indent="-325887" lvl="1">
              <a:lnSpc>
                <a:spcPts val="6520"/>
              </a:lnSpc>
              <a:buFont typeface="Arial"/>
              <a:buChar char="•"/>
            </a:pP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AI c</a:t>
            </a: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an turn ideas into products quickly.</a:t>
            </a:r>
          </a:p>
          <a:p>
            <a:pPr algn="l" marL="651774" indent="-325887" lvl="1">
              <a:lnSpc>
                <a:spcPts val="6520"/>
              </a:lnSpc>
              <a:buFont typeface="Arial"/>
              <a:buChar char="•"/>
            </a:pP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resentation affects how people learn.</a:t>
            </a:r>
          </a:p>
          <a:p>
            <a:pPr algn="l" marL="651774" indent="-325887" lvl="1">
              <a:lnSpc>
                <a:spcPts val="6520"/>
              </a:lnSpc>
              <a:buFont typeface="Arial"/>
              <a:buChar char="•"/>
            </a:pP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nteractive learning keeps students engaged.</a:t>
            </a:r>
          </a:p>
          <a:p>
            <a:pPr algn="l" marL="651774" indent="-325887" lvl="1">
              <a:lnSpc>
                <a:spcPts val="6520"/>
              </a:lnSpc>
              <a:buFont typeface="Arial"/>
              <a:buChar char="•"/>
            </a:pP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Quizzes and feedback make learning active.</a:t>
            </a:r>
          </a:p>
          <a:p>
            <a:pPr algn="l" marL="651774" indent="-325887" lvl="1">
              <a:lnSpc>
                <a:spcPts val="6520"/>
              </a:lnSpc>
              <a:buFont typeface="Arial"/>
              <a:buChar char="•"/>
            </a:pP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ultiple languages improve accessibility.</a:t>
            </a:r>
          </a:p>
          <a:p>
            <a:pPr algn="l" marL="651774" indent="-325887" lvl="1">
              <a:lnSpc>
                <a:spcPts val="6520"/>
              </a:lnSpc>
              <a:buFont typeface="Arial"/>
              <a:buChar char="•"/>
            </a:pPr>
            <a:r>
              <a:rPr lang="en-US" b="true" sz="3018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AI content must be checked for accuracy.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10108" y="1376363"/>
            <a:ext cx="9667783" cy="1105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b="true" sz="8095" spc="-396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What d</a:t>
            </a:r>
            <a:r>
              <a:rPr lang="en-US" b="true" sz="8095" spc="-396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id we learn?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37498" y="2955567"/>
            <a:ext cx="11013004" cy="88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sz="2177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We didn't just want t</a:t>
            </a:r>
            <a:r>
              <a:rPr lang="en-US" sz="2177">
                <a:solidFill>
                  <a:srgbClr val="BF092F"/>
                </a:solidFill>
                <a:latin typeface="Poppins"/>
                <a:ea typeface="Poppins"/>
                <a:cs typeface="Poppins"/>
                <a:sym typeface="Poppins"/>
              </a:rPr>
              <a:t>o summarise study material. </a:t>
            </a:r>
          </a:p>
          <a:p>
            <a:pPr algn="ctr">
              <a:lnSpc>
                <a:spcPts val="4028"/>
              </a:lnSpc>
              <a:spcBef>
                <a:spcPct val="0"/>
              </a:spcBef>
            </a:pPr>
            <a:r>
              <a:rPr lang="en-US" b="true" sz="2877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We wanted to change how students “experience” it.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70084" y="952500"/>
            <a:ext cx="3089216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 spc="29">
                <a:solidFill>
                  <a:srgbClr val="BF092F"/>
                </a:solidFill>
                <a:latin typeface="Poppins Bold"/>
                <a:ea typeface="Poppins Bold"/>
                <a:cs typeface="Poppins Bold"/>
                <a:sym typeface="Poppins Bold"/>
              </a:rPr>
              <a:t>Scrolly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DAHUzbDKa3Y</dc:identifier>
  <dcterms:modified xsi:type="dcterms:W3CDTF">2011-08-01T06:04:30Z</dcterms:modified>
  <cp:revision>1</cp:revision>
  <dc:title>Red Beige Bold Brand Strategy Presentation</dc:title>
</cp:coreProperties>
</file>