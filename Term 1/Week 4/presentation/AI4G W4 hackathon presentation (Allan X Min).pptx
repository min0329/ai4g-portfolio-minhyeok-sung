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Nova Bold" charset="1" panose="020B0804020202020204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youtu.be/J9YZVRBtmEk" TargetMode="External" Type="http://schemas.openxmlformats.org/officeDocument/2006/relationships/video"/><Relationship Id="rId4" Target="https://www.youtube.com/watch?v=J9YZVRBtmEk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B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703559"/>
            <a:ext cx="14368434" cy="179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46"/>
              </a:lnSpc>
            </a:pPr>
            <a:r>
              <a:rPr lang="en-US" sz="15682" spc="-1097" b="true">
                <a:solidFill>
                  <a:srgbClr val="E4E2DD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Climate Warning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7120" y="8677909"/>
            <a:ext cx="10823578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E4E2DD"/>
                </a:solidFill>
                <a:latin typeface="Arial Nova"/>
                <a:ea typeface="Arial Nova"/>
                <a:cs typeface="Arial Nova"/>
                <a:sym typeface="Arial Nova"/>
              </a:rPr>
              <a:t>AMSTERDAM’S PLASTIC POLLUTION - 25 SEC FILM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0253" y="971550"/>
            <a:ext cx="799381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2599">
                <a:solidFill>
                  <a:srgbClr val="E4E2DD"/>
                </a:solidFill>
                <a:latin typeface="Arial Nova"/>
                <a:ea typeface="Arial Nova"/>
                <a:cs typeface="Arial Nova"/>
                <a:sym typeface="Arial Nova"/>
              </a:rPr>
              <a:t>AI FOR GOOD | SDG 13 - CLIMATE 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71550"/>
            <a:ext cx="799381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E4E2DD"/>
                </a:solidFill>
                <a:latin typeface="Arial Nova"/>
                <a:ea typeface="Arial Nova"/>
                <a:cs typeface="Arial Nova"/>
                <a:sym typeface="Arial Nova"/>
              </a:rPr>
              <a:t>ALLAN X MIN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Film</a:t>
            </a:r>
          </a:p>
        </p:txBody>
      </p:sp>
      <p:pic>
        <p:nvPicPr>
          <p:cNvPr name="Picture 3" id="3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1028700" y="1028700"/>
            <a:ext cx="10972800" cy="8229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653599" y="8344684"/>
            <a:ext cx="4605701" cy="91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655" u="sng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  <a:hlinkClick r:id="rId4" tooltip="https://www.youtube.com/watch?v=J9YZVRBtmEk"/>
              </a:rPr>
              <a:t>https://www.youtube.com/watch?v=J9YZVRBtmEk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7041" y="8143351"/>
            <a:ext cx="415075" cy="777659"/>
          </a:xfrm>
          <a:custGeom>
            <a:avLst/>
            <a:gdLst/>
            <a:ahLst/>
            <a:cxnLst/>
            <a:rect r="r" b="b" t="t" l="l"/>
            <a:pathLst>
              <a:path h="777659" w="415075">
                <a:moveTo>
                  <a:pt x="0" y="0"/>
                </a:moveTo>
                <a:lnTo>
                  <a:pt x="415076" y="0"/>
                </a:lnTo>
                <a:lnTo>
                  <a:pt x="415076" y="777658"/>
                </a:lnTo>
                <a:lnTo>
                  <a:pt x="0" y="7776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297951"/>
            <a:ext cx="4985276" cy="4960349"/>
          </a:xfrm>
          <a:custGeom>
            <a:avLst/>
            <a:gdLst/>
            <a:ahLst/>
            <a:cxnLst/>
            <a:rect r="r" b="b" t="t" l="l"/>
            <a:pathLst>
              <a:path h="4960349" w="4985276">
                <a:moveTo>
                  <a:pt x="0" y="0"/>
                </a:moveTo>
                <a:lnTo>
                  <a:pt x="4985276" y="0"/>
                </a:lnTo>
                <a:lnTo>
                  <a:pt x="4985276" y="4960349"/>
                </a:lnTo>
                <a:lnTo>
                  <a:pt x="0" y="4960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Education &amp; Awareness-rasing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03647" y="4877054"/>
            <a:ext cx="10255653" cy="56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b="true" sz="3354" spc="-83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UN DEFINES TARGET 13.3 AS: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03647" y="6103494"/>
            <a:ext cx="10255653" cy="161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</a:pPr>
            <a:r>
              <a:rPr lang="en-US" sz="30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“Improve education, awareness-raising and human and institutional capacity on climate change mitigation, adaptation, impact reduction and early warning”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47151"/>
            <a:ext cx="10823578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SDG 13. 3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07786" y="2266450"/>
            <a:ext cx="1255151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Amsterdam leaks plastic into the IJ river every minute.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343865"/>
            <a:ext cx="4484690" cy="3086100"/>
            <a:chOff x="0" y="0"/>
            <a:chExt cx="1181153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1153" cy="812800"/>
            </a:xfrm>
            <a:custGeom>
              <a:avLst/>
              <a:gdLst/>
              <a:ahLst/>
              <a:cxnLst/>
              <a:rect r="r" b="b" t="t" l="l"/>
              <a:pathLst>
                <a:path h="812800" w="1181153">
                  <a:moveTo>
                    <a:pt x="29347" y="0"/>
                  </a:moveTo>
                  <a:lnTo>
                    <a:pt x="1151806" y="0"/>
                  </a:lnTo>
                  <a:cubicBezTo>
                    <a:pt x="1159589" y="0"/>
                    <a:pt x="1167054" y="3092"/>
                    <a:pt x="1172557" y="8596"/>
                  </a:cubicBezTo>
                  <a:cubicBezTo>
                    <a:pt x="1178061" y="14099"/>
                    <a:pt x="1181153" y="21564"/>
                    <a:pt x="1181153" y="29347"/>
                  </a:cubicBezTo>
                  <a:lnTo>
                    <a:pt x="1181153" y="783453"/>
                  </a:lnTo>
                  <a:cubicBezTo>
                    <a:pt x="1181153" y="791236"/>
                    <a:pt x="1178061" y="798701"/>
                    <a:pt x="1172557" y="804204"/>
                  </a:cubicBezTo>
                  <a:cubicBezTo>
                    <a:pt x="1167054" y="809708"/>
                    <a:pt x="1159589" y="812800"/>
                    <a:pt x="1151806" y="812800"/>
                  </a:cubicBezTo>
                  <a:lnTo>
                    <a:pt x="29347" y="812800"/>
                  </a:lnTo>
                  <a:cubicBezTo>
                    <a:pt x="21564" y="812800"/>
                    <a:pt x="14099" y="809708"/>
                    <a:pt x="8596" y="804204"/>
                  </a:cubicBezTo>
                  <a:cubicBezTo>
                    <a:pt x="3092" y="798701"/>
                    <a:pt x="0" y="791236"/>
                    <a:pt x="0" y="783453"/>
                  </a:cubicBezTo>
                  <a:lnTo>
                    <a:pt x="0" y="29347"/>
                  </a:lnTo>
                  <a:cubicBezTo>
                    <a:pt x="0" y="21564"/>
                    <a:pt x="3092" y="14099"/>
                    <a:pt x="8596" y="8596"/>
                  </a:cubicBezTo>
                  <a:cubicBezTo>
                    <a:pt x="14099" y="3092"/>
                    <a:pt x="21564" y="0"/>
                    <a:pt x="293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8115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01655" y="4343865"/>
            <a:ext cx="4484690" cy="3086100"/>
            <a:chOff x="0" y="0"/>
            <a:chExt cx="118115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153" cy="812800"/>
            </a:xfrm>
            <a:custGeom>
              <a:avLst/>
              <a:gdLst/>
              <a:ahLst/>
              <a:cxnLst/>
              <a:rect r="r" b="b" t="t" l="l"/>
              <a:pathLst>
                <a:path h="812800" w="1181153">
                  <a:moveTo>
                    <a:pt x="29347" y="0"/>
                  </a:moveTo>
                  <a:lnTo>
                    <a:pt x="1151806" y="0"/>
                  </a:lnTo>
                  <a:cubicBezTo>
                    <a:pt x="1159589" y="0"/>
                    <a:pt x="1167054" y="3092"/>
                    <a:pt x="1172557" y="8596"/>
                  </a:cubicBezTo>
                  <a:cubicBezTo>
                    <a:pt x="1178061" y="14099"/>
                    <a:pt x="1181153" y="21564"/>
                    <a:pt x="1181153" y="29347"/>
                  </a:cubicBezTo>
                  <a:lnTo>
                    <a:pt x="1181153" y="783453"/>
                  </a:lnTo>
                  <a:cubicBezTo>
                    <a:pt x="1181153" y="791236"/>
                    <a:pt x="1178061" y="798701"/>
                    <a:pt x="1172557" y="804204"/>
                  </a:cubicBezTo>
                  <a:cubicBezTo>
                    <a:pt x="1167054" y="809708"/>
                    <a:pt x="1159589" y="812800"/>
                    <a:pt x="1151806" y="812800"/>
                  </a:cubicBezTo>
                  <a:lnTo>
                    <a:pt x="29347" y="812800"/>
                  </a:lnTo>
                  <a:cubicBezTo>
                    <a:pt x="21564" y="812800"/>
                    <a:pt x="14099" y="809708"/>
                    <a:pt x="8596" y="804204"/>
                  </a:cubicBezTo>
                  <a:cubicBezTo>
                    <a:pt x="3092" y="798701"/>
                    <a:pt x="0" y="791236"/>
                    <a:pt x="0" y="783453"/>
                  </a:cubicBezTo>
                  <a:lnTo>
                    <a:pt x="0" y="29347"/>
                  </a:lnTo>
                  <a:cubicBezTo>
                    <a:pt x="0" y="21564"/>
                    <a:pt x="3092" y="14099"/>
                    <a:pt x="8596" y="8596"/>
                  </a:cubicBezTo>
                  <a:cubicBezTo>
                    <a:pt x="14099" y="3092"/>
                    <a:pt x="21564" y="0"/>
                    <a:pt x="293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8115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74610" y="4343865"/>
            <a:ext cx="4484690" cy="3086100"/>
            <a:chOff x="0" y="0"/>
            <a:chExt cx="1181153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1153" cy="812800"/>
            </a:xfrm>
            <a:custGeom>
              <a:avLst/>
              <a:gdLst/>
              <a:ahLst/>
              <a:cxnLst/>
              <a:rect r="r" b="b" t="t" l="l"/>
              <a:pathLst>
                <a:path h="812800" w="1181153">
                  <a:moveTo>
                    <a:pt x="29347" y="0"/>
                  </a:moveTo>
                  <a:lnTo>
                    <a:pt x="1151806" y="0"/>
                  </a:lnTo>
                  <a:cubicBezTo>
                    <a:pt x="1159589" y="0"/>
                    <a:pt x="1167054" y="3092"/>
                    <a:pt x="1172557" y="8596"/>
                  </a:cubicBezTo>
                  <a:cubicBezTo>
                    <a:pt x="1178061" y="14099"/>
                    <a:pt x="1181153" y="21564"/>
                    <a:pt x="1181153" y="29347"/>
                  </a:cubicBezTo>
                  <a:lnTo>
                    <a:pt x="1181153" y="783453"/>
                  </a:lnTo>
                  <a:cubicBezTo>
                    <a:pt x="1181153" y="791236"/>
                    <a:pt x="1178061" y="798701"/>
                    <a:pt x="1172557" y="804204"/>
                  </a:cubicBezTo>
                  <a:cubicBezTo>
                    <a:pt x="1167054" y="809708"/>
                    <a:pt x="1159589" y="812800"/>
                    <a:pt x="1151806" y="812800"/>
                  </a:cubicBezTo>
                  <a:lnTo>
                    <a:pt x="29347" y="812800"/>
                  </a:lnTo>
                  <a:cubicBezTo>
                    <a:pt x="21564" y="812800"/>
                    <a:pt x="14099" y="809708"/>
                    <a:pt x="8596" y="804204"/>
                  </a:cubicBezTo>
                  <a:cubicBezTo>
                    <a:pt x="3092" y="798701"/>
                    <a:pt x="0" y="791236"/>
                    <a:pt x="0" y="783453"/>
                  </a:cubicBezTo>
                  <a:lnTo>
                    <a:pt x="0" y="29347"/>
                  </a:lnTo>
                  <a:cubicBezTo>
                    <a:pt x="0" y="21564"/>
                    <a:pt x="3092" y="14099"/>
                    <a:pt x="8596" y="8596"/>
                  </a:cubicBezTo>
                  <a:cubicBezTo>
                    <a:pt x="14099" y="3092"/>
                    <a:pt x="21564" y="0"/>
                    <a:pt x="293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8115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31502" y="4617230"/>
            <a:ext cx="3679086" cy="238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8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3.67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</a:t>
            </a:r>
            <a:r>
              <a:rPr lang="en-US" sz="25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lastic items enter the IJ river every minute.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04457" y="4617230"/>
            <a:ext cx="3679086" cy="238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8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5,280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items a day flowing towards the North sea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77412" y="4617230"/>
            <a:ext cx="3679086" cy="242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8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1.9M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items a year - about 16 tonnes of plastic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726319"/>
            <a:ext cx="16230600" cy="5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</a:pPr>
            <a:r>
              <a:rPr lang="en-US" sz="30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AMS Institute (2025, 2026)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07786" y="2266450"/>
            <a:ext cx="1255151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Cleaning up is not keeping up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19552" y="4344498"/>
            <a:ext cx="4484690" cy="3086100"/>
            <a:chOff x="0" y="0"/>
            <a:chExt cx="1181153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1153" cy="812800"/>
            </a:xfrm>
            <a:custGeom>
              <a:avLst/>
              <a:gdLst/>
              <a:ahLst/>
              <a:cxnLst/>
              <a:rect r="r" b="b" t="t" l="l"/>
              <a:pathLst>
                <a:path h="812800" w="1181153">
                  <a:moveTo>
                    <a:pt x="29347" y="0"/>
                  </a:moveTo>
                  <a:lnTo>
                    <a:pt x="1151806" y="0"/>
                  </a:lnTo>
                  <a:cubicBezTo>
                    <a:pt x="1159589" y="0"/>
                    <a:pt x="1167054" y="3092"/>
                    <a:pt x="1172557" y="8596"/>
                  </a:cubicBezTo>
                  <a:cubicBezTo>
                    <a:pt x="1178061" y="14099"/>
                    <a:pt x="1181153" y="21564"/>
                    <a:pt x="1181153" y="29347"/>
                  </a:cubicBezTo>
                  <a:lnTo>
                    <a:pt x="1181153" y="783453"/>
                  </a:lnTo>
                  <a:cubicBezTo>
                    <a:pt x="1181153" y="791236"/>
                    <a:pt x="1178061" y="798701"/>
                    <a:pt x="1172557" y="804204"/>
                  </a:cubicBezTo>
                  <a:cubicBezTo>
                    <a:pt x="1167054" y="809708"/>
                    <a:pt x="1159589" y="812800"/>
                    <a:pt x="1151806" y="812800"/>
                  </a:cubicBezTo>
                  <a:lnTo>
                    <a:pt x="29347" y="812800"/>
                  </a:lnTo>
                  <a:cubicBezTo>
                    <a:pt x="21564" y="812800"/>
                    <a:pt x="14099" y="809708"/>
                    <a:pt x="8596" y="804204"/>
                  </a:cubicBezTo>
                  <a:cubicBezTo>
                    <a:pt x="3092" y="798701"/>
                    <a:pt x="0" y="791236"/>
                    <a:pt x="0" y="783453"/>
                  </a:cubicBezTo>
                  <a:lnTo>
                    <a:pt x="0" y="29347"/>
                  </a:lnTo>
                  <a:cubicBezTo>
                    <a:pt x="0" y="21564"/>
                    <a:pt x="3092" y="14099"/>
                    <a:pt x="8596" y="8596"/>
                  </a:cubicBezTo>
                  <a:cubicBezTo>
                    <a:pt x="14099" y="3092"/>
                    <a:pt x="21564" y="0"/>
                    <a:pt x="293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8115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70626" y="4343865"/>
            <a:ext cx="9003439" cy="3086100"/>
            <a:chOff x="0" y="0"/>
            <a:chExt cx="237127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1276" cy="812800"/>
            </a:xfrm>
            <a:custGeom>
              <a:avLst/>
              <a:gdLst/>
              <a:ahLst/>
              <a:cxnLst/>
              <a:rect r="r" b="b" t="t" l="l"/>
              <a:pathLst>
                <a:path h="812800" w="2371276">
                  <a:moveTo>
                    <a:pt x="14618" y="0"/>
                  </a:moveTo>
                  <a:lnTo>
                    <a:pt x="2356658" y="0"/>
                  </a:lnTo>
                  <a:cubicBezTo>
                    <a:pt x="2364731" y="0"/>
                    <a:pt x="2371276" y="6545"/>
                    <a:pt x="2371276" y="14618"/>
                  </a:cubicBezTo>
                  <a:lnTo>
                    <a:pt x="2371276" y="798182"/>
                  </a:lnTo>
                  <a:cubicBezTo>
                    <a:pt x="2371276" y="802059"/>
                    <a:pt x="2369736" y="805777"/>
                    <a:pt x="2366995" y="808518"/>
                  </a:cubicBezTo>
                  <a:cubicBezTo>
                    <a:pt x="2364253" y="811260"/>
                    <a:pt x="2360535" y="812800"/>
                    <a:pt x="2356658" y="812800"/>
                  </a:cubicBezTo>
                  <a:lnTo>
                    <a:pt x="14618" y="812800"/>
                  </a:lnTo>
                  <a:cubicBezTo>
                    <a:pt x="10741" y="812800"/>
                    <a:pt x="7023" y="811260"/>
                    <a:pt x="4282" y="808518"/>
                  </a:cubicBezTo>
                  <a:cubicBezTo>
                    <a:pt x="1540" y="805777"/>
                    <a:pt x="0" y="802059"/>
                    <a:pt x="0" y="798182"/>
                  </a:cubicBezTo>
                  <a:lnTo>
                    <a:pt x="0" y="14618"/>
                  </a:lnTo>
                  <a:cubicBezTo>
                    <a:pt x="0" y="10741"/>
                    <a:pt x="1540" y="7023"/>
                    <a:pt x="4282" y="4282"/>
                  </a:cubicBezTo>
                  <a:cubicBezTo>
                    <a:pt x="7023" y="1540"/>
                    <a:pt x="10741" y="0"/>
                    <a:pt x="14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7127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22354" y="4389264"/>
            <a:ext cx="3679086" cy="284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9"/>
              </a:lnSpc>
            </a:pPr>
            <a:r>
              <a:rPr lang="en-US" sz="8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€3.2M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 year spent dredging bulkier waste from Amsterdam’s water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70554" y="4445780"/>
            <a:ext cx="7803583" cy="278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Prevention works best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researchers name behavior change and public awareness campaigns as the most effective long-term answer.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726319"/>
            <a:ext cx="16230600" cy="5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</a:pPr>
            <a:r>
              <a:rPr lang="en-US" sz="30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AMS Institute (2025, 2026)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07786" y="2266450"/>
            <a:ext cx="1255151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Why plastic litter is a climate problem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19552" y="4344498"/>
            <a:ext cx="4484690" cy="3086100"/>
            <a:chOff x="0" y="0"/>
            <a:chExt cx="1181153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1153" cy="812800"/>
            </a:xfrm>
            <a:custGeom>
              <a:avLst/>
              <a:gdLst/>
              <a:ahLst/>
              <a:cxnLst/>
              <a:rect r="r" b="b" t="t" l="l"/>
              <a:pathLst>
                <a:path h="812800" w="1181153">
                  <a:moveTo>
                    <a:pt x="29347" y="0"/>
                  </a:moveTo>
                  <a:lnTo>
                    <a:pt x="1151806" y="0"/>
                  </a:lnTo>
                  <a:cubicBezTo>
                    <a:pt x="1159589" y="0"/>
                    <a:pt x="1167054" y="3092"/>
                    <a:pt x="1172557" y="8596"/>
                  </a:cubicBezTo>
                  <a:cubicBezTo>
                    <a:pt x="1178061" y="14099"/>
                    <a:pt x="1181153" y="21564"/>
                    <a:pt x="1181153" y="29347"/>
                  </a:cubicBezTo>
                  <a:lnTo>
                    <a:pt x="1181153" y="783453"/>
                  </a:lnTo>
                  <a:cubicBezTo>
                    <a:pt x="1181153" y="791236"/>
                    <a:pt x="1178061" y="798701"/>
                    <a:pt x="1172557" y="804204"/>
                  </a:cubicBezTo>
                  <a:cubicBezTo>
                    <a:pt x="1167054" y="809708"/>
                    <a:pt x="1159589" y="812800"/>
                    <a:pt x="1151806" y="812800"/>
                  </a:cubicBezTo>
                  <a:lnTo>
                    <a:pt x="29347" y="812800"/>
                  </a:lnTo>
                  <a:cubicBezTo>
                    <a:pt x="21564" y="812800"/>
                    <a:pt x="14099" y="809708"/>
                    <a:pt x="8596" y="804204"/>
                  </a:cubicBezTo>
                  <a:cubicBezTo>
                    <a:pt x="3092" y="798701"/>
                    <a:pt x="0" y="791236"/>
                    <a:pt x="0" y="783453"/>
                  </a:cubicBezTo>
                  <a:lnTo>
                    <a:pt x="0" y="29347"/>
                  </a:lnTo>
                  <a:cubicBezTo>
                    <a:pt x="0" y="21564"/>
                    <a:pt x="3092" y="14099"/>
                    <a:pt x="8596" y="8596"/>
                  </a:cubicBezTo>
                  <a:cubicBezTo>
                    <a:pt x="14099" y="3092"/>
                    <a:pt x="21564" y="0"/>
                    <a:pt x="293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8115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70626" y="4343865"/>
            <a:ext cx="9003439" cy="3086100"/>
            <a:chOff x="0" y="0"/>
            <a:chExt cx="237127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1276" cy="812800"/>
            </a:xfrm>
            <a:custGeom>
              <a:avLst/>
              <a:gdLst/>
              <a:ahLst/>
              <a:cxnLst/>
              <a:rect r="r" b="b" t="t" l="l"/>
              <a:pathLst>
                <a:path h="812800" w="2371276">
                  <a:moveTo>
                    <a:pt x="14618" y="0"/>
                  </a:moveTo>
                  <a:lnTo>
                    <a:pt x="2356658" y="0"/>
                  </a:lnTo>
                  <a:cubicBezTo>
                    <a:pt x="2364731" y="0"/>
                    <a:pt x="2371276" y="6545"/>
                    <a:pt x="2371276" y="14618"/>
                  </a:cubicBezTo>
                  <a:lnTo>
                    <a:pt x="2371276" y="798182"/>
                  </a:lnTo>
                  <a:cubicBezTo>
                    <a:pt x="2371276" y="802059"/>
                    <a:pt x="2369736" y="805777"/>
                    <a:pt x="2366995" y="808518"/>
                  </a:cubicBezTo>
                  <a:cubicBezTo>
                    <a:pt x="2364253" y="811260"/>
                    <a:pt x="2360535" y="812800"/>
                    <a:pt x="2356658" y="812800"/>
                  </a:cubicBezTo>
                  <a:lnTo>
                    <a:pt x="14618" y="812800"/>
                  </a:lnTo>
                  <a:cubicBezTo>
                    <a:pt x="10741" y="812800"/>
                    <a:pt x="7023" y="811260"/>
                    <a:pt x="4282" y="808518"/>
                  </a:cubicBezTo>
                  <a:cubicBezTo>
                    <a:pt x="1540" y="805777"/>
                    <a:pt x="0" y="802059"/>
                    <a:pt x="0" y="798182"/>
                  </a:cubicBezTo>
                  <a:lnTo>
                    <a:pt x="0" y="14618"/>
                  </a:lnTo>
                  <a:cubicBezTo>
                    <a:pt x="0" y="10741"/>
                    <a:pt x="1540" y="7023"/>
                    <a:pt x="4282" y="4282"/>
                  </a:cubicBezTo>
                  <a:cubicBezTo>
                    <a:pt x="7023" y="1540"/>
                    <a:pt x="10741" y="0"/>
                    <a:pt x="14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7127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10064" y="4652455"/>
            <a:ext cx="4103667" cy="222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7"/>
              </a:lnSpc>
            </a:pPr>
            <a:r>
              <a:rPr lang="en-US" sz="12998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3.4%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70554" y="4455305"/>
            <a:ext cx="7803583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of global greenhouse gas emissions come from plastics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Plastics have a significant carbon footprint.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726319"/>
            <a:ext cx="16230600" cy="53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8"/>
              </a:lnSpc>
            </a:pPr>
            <a:r>
              <a:rPr lang="en-US" sz="3055">
                <a:solidFill>
                  <a:srgbClr val="2B2B2B"/>
                </a:solidFill>
                <a:latin typeface="Arial Nova"/>
                <a:ea typeface="Arial Nova"/>
                <a:cs typeface="Arial Nova"/>
                <a:sym typeface="Arial Nova"/>
              </a:rPr>
              <a:t>OECD (2022), Global Plastics Outlook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Target Group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87509"/>
            <a:ext cx="15898737" cy="252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Students and young workers who eat, drink and smoke on the go.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Spending time in the city centre, at stations, in nightlife areas &amp; along the canals.</a:t>
            </a:r>
          </a:p>
          <a:p>
            <a:pPr algn="l" marL="784203" indent="-392101" lvl="1">
              <a:lnSpc>
                <a:spcPts val="5085"/>
              </a:lnSpc>
              <a:buFont typeface="Arial"/>
              <a:buChar char="•"/>
            </a:pP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watching short-form video on their phones every day.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02632"/>
            <a:ext cx="13836489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Young Adults, 18-30, Living in or visiting Amsterdam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Non-Target Group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715087"/>
            <a:ext cx="15898737" cy="28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203" indent="-392101" lvl="1">
              <a:lnSpc>
                <a:spcPts val="5775"/>
              </a:lnSpc>
              <a:buFont typeface="Arial"/>
              <a:buChar char="•"/>
            </a:pPr>
            <a:r>
              <a:rPr lang="en-US" b="true" sz="3632" spc="-9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Committed environmentalists</a:t>
            </a: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: already bin their waste well</a:t>
            </a:r>
          </a:p>
          <a:p>
            <a:pPr algn="l">
              <a:lnSpc>
                <a:spcPts val="5775"/>
              </a:lnSpc>
            </a:pPr>
          </a:p>
          <a:p>
            <a:pPr algn="l" marL="784203" indent="-392101" lvl="1">
              <a:lnSpc>
                <a:spcPts val="5775"/>
              </a:lnSpc>
              <a:buFont typeface="Arial"/>
              <a:buChar char="•"/>
            </a:pPr>
            <a:r>
              <a:rPr lang="en-US" b="true" sz="3632" spc="-9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Young children</a:t>
            </a:r>
            <a:r>
              <a:rPr lang="en-US" b="true" sz="3632" spc="-90">
                <a:solidFill>
                  <a:srgbClr val="2B2B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: A menacing/threatening plastic ball may frighten rather than motivate, and they are not the main on-the-go source.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02632"/>
            <a:ext cx="13836489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Who this film is not for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Workflow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720962"/>
            <a:ext cx="16230600" cy="1205815"/>
            <a:chOff x="0" y="0"/>
            <a:chExt cx="4274726" cy="317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317581"/>
            </a:xfrm>
            <a:custGeom>
              <a:avLst/>
              <a:gdLst/>
              <a:ahLst/>
              <a:cxnLst/>
              <a:rect r="r" b="b" t="t" l="l"/>
              <a:pathLst>
                <a:path h="317581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09472"/>
                  </a:lnTo>
                  <a:cubicBezTo>
                    <a:pt x="4274726" y="311623"/>
                    <a:pt x="4273872" y="313685"/>
                    <a:pt x="4272351" y="315206"/>
                  </a:cubicBezTo>
                  <a:cubicBezTo>
                    <a:pt x="4270830" y="316727"/>
                    <a:pt x="4268768" y="317581"/>
                    <a:pt x="4266617" y="317581"/>
                  </a:cubicBezTo>
                  <a:lnTo>
                    <a:pt x="8109" y="317581"/>
                  </a:lnTo>
                  <a:cubicBezTo>
                    <a:pt x="5958" y="317581"/>
                    <a:pt x="3896" y="316727"/>
                    <a:pt x="2375" y="315206"/>
                  </a:cubicBezTo>
                  <a:cubicBezTo>
                    <a:pt x="854" y="313685"/>
                    <a:pt x="0" y="311623"/>
                    <a:pt x="0" y="30947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274726" cy="3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Step 1: Brainstorming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Outlining a 7-scence narrative from a pristine past to a catastrophe warning.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403027"/>
            <a:ext cx="16230600" cy="1205815"/>
            <a:chOff x="0" y="0"/>
            <a:chExt cx="4274726" cy="3175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317581"/>
            </a:xfrm>
            <a:custGeom>
              <a:avLst/>
              <a:gdLst/>
              <a:ahLst/>
              <a:cxnLst/>
              <a:rect r="r" b="b" t="t" l="l"/>
              <a:pathLst>
                <a:path h="317581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09472"/>
                  </a:lnTo>
                  <a:cubicBezTo>
                    <a:pt x="4274726" y="311623"/>
                    <a:pt x="4273872" y="313685"/>
                    <a:pt x="4272351" y="315206"/>
                  </a:cubicBezTo>
                  <a:cubicBezTo>
                    <a:pt x="4270830" y="316727"/>
                    <a:pt x="4268768" y="317581"/>
                    <a:pt x="4266617" y="317581"/>
                  </a:cubicBezTo>
                  <a:lnTo>
                    <a:pt x="8109" y="317581"/>
                  </a:lnTo>
                  <a:cubicBezTo>
                    <a:pt x="5958" y="317581"/>
                    <a:pt x="3896" y="316727"/>
                    <a:pt x="2375" y="315206"/>
                  </a:cubicBezTo>
                  <a:cubicBezTo>
                    <a:pt x="854" y="313685"/>
                    <a:pt x="0" y="311623"/>
                    <a:pt x="0" y="30947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274726" cy="3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Step 2: Research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Gathering facts on Amsterdam’s plastic waste volume.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085092"/>
            <a:ext cx="16230600" cy="1205815"/>
            <a:chOff x="0" y="0"/>
            <a:chExt cx="4274726" cy="3175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317581"/>
            </a:xfrm>
            <a:custGeom>
              <a:avLst/>
              <a:gdLst/>
              <a:ahLst/>
              <a:cxnLst/>
              <a:rect r="r" b="b" t="t" l="l"/>
              <a:pathLst>
                <a:path h="317581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09472"/>
                  </a:lnTo>
                  <a:cubicBezTo>
                    <a:pt x="4274726" y="311623"/>
                    <a:pt x="4273872" y="313685"/>
                    <a:pt x="4272351" y="315206"/>
                  </a:cubicBezTo>
                  <a:cubicBezTo>
                    <a:pt x="4270830" y="316727"/>
                    <a:pt x="4268768" y="317581"/>
                    <a:pt x="4266617" y="317581"/>
                  </a:cubicBezTo>
                  <a:lnTo>
                    <a:pt x="8109" y="317581"/>
                  </a:lnTo>
                  <a:cubicBezTo>
                    <a:pt x="5958" y="317581"/>
                    <a:pt x="3896" y="316727"/>
                    <a:pt x="2375" y="315206"/>
                  </a:cubicBezTo>
                  <a:cubicBezTo>
                    <a:pt x="854" y="313685"/>
                    <a:pt x="0" y="311623"/>
                    <a:pt x="0" y="30947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274726" cy="3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Step 3: Image Generation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Prompt engineering 7 specific scenes using descriptive positive &amp; negative prompts.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767156"/>
            <a:ext cx="16230600" cy="1680009"/>
            <a:chOff x="0" y="0"/>
            <a:chExt cx="4274726" cy="4424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726" cy="442472"/>
            </a:xfrm>
            <a:custGeom>
              <a:avLst/>
              <a:gdLst/>
              <a:ahLst/>
              <a:cxnLst/>
              <a:rect r="r" b="b" t="t" l="l"/>
              <a:pathLst>
                <a:path h="442472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434363"/>
                  </a:lnTo>
                  <a:cubicBezTo>
                    <a:pt x="4274726" y="436513"/>
                    <a:pt x="4273872" y="438576"/>
                    <a:pt x="4272351" y="440096"/>
                  </a:cubicBezTo>
                  <a:cubicBezTo>
                    <a:pt x="4270830" y="441617"/>
                    <a:pt x="4268768" y="442472"/>
                    <a:pt x="4266617" y="442472"/>
                  </a:cubicBezTo>
                  <a:lnTo>
                    <a:pt x="8109" y="442472"/>
                  </a:lnTo>
                  <a:cubicBezTo>
                    <a:pt x="5958" y="442472"/>
                    <a:pt x="3896" y="441617"/>
                    <a:pt x="2375" y="440096"/>
                  </a:cubicBezTo>
                  <a:cubicBezTo>
                    <a:pt x="854" y="438576"/>
                    <a:pt x="0" y="436513"/>
                    <a:pt x="0" y="434363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274726" cy="509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Step 4: Video &amp; Transitions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Converting images to video using LTXV and merging them seamlessly with ComfyUI batch transition nodes (KJNodes)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What We Learned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237266"/>
            <a:ext cx="16230600" cy="1205815"/>
            <a:chOff x="0" y="0"/>
            <a:chExt cx="4274726" cy="317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317581"/>
            </a:xfrm>
            <a:custGeom>
              <a:avLst/>
              <a:gdLst/>
              <a:ahLst/>
              <a:cxnLst/>
              <a:rect r="r" b="b" t="t" l="l"/>
              <a:pathLst>
                <a:path h="317581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09472"/>
                  </a:lnTo>
                  <a:cubicBezTo>
                    <a:pt x="4274726" y="311623"/>
                    <a:pt x="4273872" y="313685"/>
                    <a:pt x="4272351" y="315206"/>
                  </a:cubicBezTo>
                  <a:cubicBezTo>
                    <a:pt x="4270830" y="316727"/>
                    <a:pt x="4268768" y="317581"/>
                    <a:pt x="4266617" y="317581"/>
                  </a:cubicBezTo>
                  <a:lnTo>
                    <a:pt x="8109" y="317581"/>
                  </a:lnTo>
                  <a:cubicBezTo>
                    <a:pt x="5958" y="317581"/>
                    <a:pt x="3896" y="316727"/>
                    <a:pt x="2375" y="315206"/>
                  </a:cubicBezTo>
                  <a:cubicBezTo>
                    <a:pt x="854" y="313685"/>
                    <a:pt x="0" y="311623"/>
                    <a:pt x="0" y="30947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274726" cy="3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From Scratch to Finish: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Started with zero video assets and built a compete continuous film.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919330"/>
            <a:ext cx="16230600" cy="1680009"/>
            <a:chOff x="0" y="0"/>
            <a:chExt cx="4274726" cy="442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442472"/>
            </a:xfrm>
            <a:custGeom>
              <a:avLst/>
              <a:gdLst/>
              <a:ahLst/>
              <a:cxnLst/>
              <a:rect r="r" b="b" t="t" l="l"/>
              <a:pathLst>
                <a:path h="442472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434363"/>
                  </a:lnTo>
                  <a:cubicBezTo>
                    <a:pt x="4274726" y="436513"/>
                    <a:pt x="4273872" y="438576"/>
                    <a:pt x="4272351" y="440096"/>
                  </a:cubicBezTo>
                  <a:cubicBezTo>
                    <a:pt x="4270830" y="441617"/>
                    <a:pt x="4268768" y="442472"/>
                    <a:pt x="4266617" y="442472"/>
                  </a:cubicBezTo>
                  <a:lnTo>
                    <a:pt x="8109" y="442472"/>
                  </a:lnTo>
                  <a:cubicBezTo>
                    <a:pt x="5958" y="442472"/>
                    <a:pt x="3896" y="441617"/>
                    <a:pt x="2375" y="440096"/>
                  </a:cubicBezTo>
                  <a:cubicBezTo>
                    <a:pt x="854" y="438576"/>
                    <a:pt x="0" y="436513"/>
                    <a:pt x="0" y="434363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274726" cy="509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AI for Good: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Learned how to use powerful tools like ComfyUI for creative storytelling and climate awareness instead of just standard art generation.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075590"/>
            <a:ext cx="16230600" cy="1205815"/>
            <a:chOff x="0" y="0"/>
            <a:chExt cx="4274726" cy="3175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317581"/>
            </a:xfrm>
            <a:custGeom>
              <a:avLst/>
              <a:gdLst/>
              <a:ahLst/>
              <a:cxnLst/>
              <a:rect r="r" b="b" t="t" l="l"/>
              <a:pathLst>
                <a:path h="317581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09472"/>
                  </a:lnTo>
                  <a:cubicBezTo>
                    <a:pt x="4274726" y="311623"/>
                    <a:pt x="4273872" y="313685"/>
                    <a:pt x="4272351" y="315206"/>
                  </a:cubicBezTo>
                  <a:cubicBezTo>
                    <a:pt x="4270830" y="316727"/>
                    <a:pt x="4268768" y="317581"/>
                    <a:pt x="4266617" y="317581"/>
                  </a:cubicBezTo>
                  <a:lnTo>
                    <a:pt x="8109" y="317581"/>
                  </a:lnTo>
                  <a:cubicBezTo>
                    <a:pt x="5958" y="317581"/>
                    <a:pt x="3896" y="316727"/>
                    <a:pt x="2375" y="315206"/>
                  </a:cubicBezTo>
                  <a:cubicBezTo>
                    <a:pt x="854" y="313685"/>
                    <a:pt x="0" y="311623"/>
                    <a:pt x="0" y="30947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4274726" cy="3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Technical Growth: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Learned frame-by-frame prompt engineering and automated video stitching.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560" b="true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Obstacles Faced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724886"/>
            <a:ext cx="16230600" cy="1680009"/>
            <a:chOff x="0" y="0"/>
            <a:chExt cx="4274726" cy="4424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442472"/>
            </a:xfrm>
            <a:custGeom>
              <a:avLst/>
              <a:gdLst/>
              <a:ahLst/>
              <a:cxnLst/>
              <a:rect r="r" b="b" t="t" l="l"/>
              <a:pathLst>
                <a:path h="442472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434363"/>
                  </a:lnTo>
                  <a:cubicBezTo>
                    <a:pt x="4274726" y="436513"/>
                    <a:pt x="4273872" y="438576"/>
                    <a:pt x="4272351" y="440096"/>
                  </a:cubicBezTo>
                  <a:cubicBezTo>
                    <a:pt x="4270830" y="441617"/>
                    <a:pt x="4268768" y="442472"/>
                    <a:pt x="4266617" y="442472"/>
                  </a:cubicBezTo>
                  <a:lnTo>
                    <a:pt x="8109" y="442472"/>
                  </a:lnTo>
                  <a:cubicBezTo>
                    <a:pt x="5958" y="442472"/>
                    <a:pt x="3896" y="441617"/>
                    <a:pt x="2375" y="440096"/>
                  </a:cubicBezTo>
                  <a:cubicBezTo>
                    <a:pt x="854" y="438576"/>
                    <a:pt x="0" y="436513"/>
                    <a:pt x="0" y="434363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274726" cy="509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ComfyUI Learning Curve: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Figuring out how to setup a workflow with proper nodes, control camera movement (drone ascents) and fixing static image bugs using the correct settings.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254031"/>
            <a:ext cx="16230600" cy="1205815"/>
            <a:chOff x="0" y="0"/>
            <a:chExt cx="4274726" cy="3175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317581"/>
            </a:xfrm>
            <a:custGeom>
              <a:avLst/>
              <a:gdLst/>
              <a:ahLst/>
              <a:cxnLst/>
              <a:rect r="r" b="b" t="t" l="l"/>
              <a:pathLst>
                <a:path h="317581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309472"/>
                  </a:lnTo>
                  <a:cubicBezTo>
                    <a:pt x="4274726" y="311623"/>
                    <a:pt x="4273872" y="313685"/>
                    <a:pt x="4272351" y="315206"/>
                  </a:cubicBezTo>
                  <a:cubicBezTo>
                    <a:pt x="4270830" y="316727"/>
                    <a:pt x="4268768" y="317581"/>
                    <a:pt x="4266617" y="317581"/>
                  </a:cubicBezTo>
                  <a:lnTo>
                    <a:pt x="8109" y="317581"/>
                  </a:lnTo>
                  <a:cubicBezTo>
                    <a:pt x="5958" y="317581"/>
                    <a:pt x="3896" y="316727"/>
                    <a:pt x="2375" y="315206"/>
                  </a:cubicBezTo>
                  <a:cubicBezTo>
                    <a:pt x="854" y="313685"/>
                    <a:pt x="0" y="311623"/>
                    <a:pt x="0" y="309472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274726" cy="3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Hardware Bottlenecks:</a:t>
              </a: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2B2B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Managing local ComfyUI instance on poor hardware.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29641" y="1333500"/>
            <a:ext cx="8429659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00"/>
              </a:lnSpc>
            </a:pPr>
            <a:r>
              <a:rPr lang="en-US" b="true" sz="8000" spc="-560">
                <a:solidFill>
                  <a:srgbClr val="DB4A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Ethical Reflaction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724886"/>
            <a:ext cx="16230600" cy="1680009"/>
            <a:chOff x="0" y="0"/>
            <a:chExt cx="4274726" cy="4424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442472"/>
            </a:xfrm>
            <a:custGeom>
              <a:avLst/>
              <a:gdLst/>
              <a:ahLst/>
              <a:cxnLst/>
              <a:rect r="r" b="b" t="t" l="l"/>
              <a:pathLst>
                <a:path h="442472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434363"/>
                  </a:lnTo>
                  <a:cubicBezTo>
                    <a:pt x="4274726" y="436513"/>
                    <a:pt x="4273872" y="438576"/>
                    <a:pt x="4272351" y="440096"/>
                  </a:cubicBezTo>
                  <a:cubicBezTo>
                    <a:pt x="4270830" y="441617"/>
                    <a:pt x="4268768" y="442472"/>
                    <a:pt x="4266617" y="442472"/>
                  </a:cubicBezTo>
                  <a:lnTo>
                    <a:pt x="8109" y="442472"/>
                  </a:lnTo>
                  <a:cubicBezTo>
                    <a:pt x="5958" y="442472"/>
                    <a:pt x="3896" y="441617"/>
                    <a:pt x="2375" y="440096"/>
                  </a:cubicBezTo>
                  <a:cubicBezTo>
                    <a:pt x="854" y="438576"/>
                    <a:pt x="0" y="436513"/>
                    <a:pt x="0" y="434363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E4E2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274726" cy="509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DB4A2B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Dramatic shots could be shared without context and look like a real event:</a:t>
              </a:r>
            </a:p>
            <a:p>
              <a:pPr algn="ctr">
                <a:lnSpc>
                  <a:spcPts val="4200"/>
                </a:lnSpc>
              </a:pPr>
            </a:p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The giant plastic trash ball is a symbo to show how small acts add up, not a prediction.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DAHWwmvKoL0</dc:identifier>
  <dcterms:modified xsi:type="dcterms:W3CDTF">2011-08-01T06:04:30Z</dcterms:modified>
  <cp:revision>1</cp:revision>
  <dc:title>AI4G W4 hackathon presentation (Allan X Min)</dc:title>
</cp:coreProperties>
</file>