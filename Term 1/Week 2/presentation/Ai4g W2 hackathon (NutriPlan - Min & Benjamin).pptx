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msterdam Four" panose="02000500000000000000" pitchFamily="2" charset="0"/>
      <p:regular r:id="rId9"/>
    </p:embeddedFont>
    <p:embeddedFont>
      <p:font typeface="Montserrat" pitchFamily="2" charset="77"/>
      <p:regular r:id="rId10"/>
      <p:bold r:id="rId11"/>
      <p:italic r:id="rId12"/>
      <p:boldItalic r:id="rId13"/>
    </p:embeddedFont>
    <p:embeddedFont>
      <p:font typeface="Montserrat Bold" pitchFamily="2" charset="77"/>
      <p:regular r:id="rId14"/>
      <p:bold r:id="rId15"/>
    </p:embeddedFont>
    <p:embeddedFont>
      <p:font typeface="Montserrat Ultra-Bold" pitchFamily="2" charset="7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3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33" y="3827717"/>
            <a:ext cx="18240335" cy="393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1"/>
              </a:lnSpc>
            </a:pPr>
            <a:r>
              <a:rPr lang="en-US" sz="34401" b="1" spc="-344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NutriPlan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8996" y="9065260"/>
            <a:ext cx="2663924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AI For Good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95195" y="9065260"/>
            <a:ext cx="2406389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Week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73858" y="9065260"/>
            <a:ext cx="2849322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Hackathon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95454" y="9041130"/>
            <a:ext cx="3663846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SDG 3 | Good Health &amp; Well-being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90898" y="1076325"/>
            <a:ext cx="1768402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 Sep, 2026</a:t>
            </a:r>
          </a:p>
        </p:txBody>
      </p:sp>
      <p:sp>
        <p:nvSpPr>
          <p:cNvPr id="9" name="TextBox 9"/>
          <p:cNvSpPr txBox="1"/>
          <p:nvPr/>
        </p:nvSpPr>
        <p:spPr>
          <a:xfrm rot="-263831">
            <a:off x="3016992" y="4463611"/>
            <a:ext cx="12243792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spc="-144">
                <a:solidFill>
                  <a:srgbClr val="FF3131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Benjamin &amp;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020374"/>
            <a:ext cx="5095611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⅓</a:t>
            </a: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EU residents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consumed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 fruit or vegi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8996" y="2640164"/>
            <a:ext cx="4939010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67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783543"/>
            <a:ext cx="2224466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(Eurostat, 2022)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38578" y="5020374"/>
            <a:ext cx="5010844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29%</a:t>
            </a: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adults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meet vegetable guideline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38578" y="7783543"/>
            <a:ext cx="2224466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(RIVM, 2023)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42994" y="5020374"/>
            <a:ext cx="5095611" cy="2362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50.6%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EU population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Overweight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42994" y="7783543"/>
            <a:ext cx="2224466" cy="25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(Eurostat,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1317446" y="1028700"/>
            <a:ext cx="5941854" cy="334229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5810949"/>
            <a:ext cx="509561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Limited Time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8996" y="2640164"/>
            <a:ext cx="4939010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67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2866" y="7987411"/>
            <a:ext cx="9622269" cy="44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b="1" spc="-67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Struggling to plan healthy meals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6271" y="5415661"/>
            <a:ext cx="3995458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Budget Constraint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42994" y="5491861"/>
            <a:ext cx="5095611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Uncertainty</a:t>
            </a:r>
          </a:p>
          <a:p>
            <a:pPr algn="l">
              <a:lnSpc>
                <a:spcPts val="5040"/>
              </a:lnSpc>
            </a:pPr>
            <a:r>
              <a:rPr lang="en-US" sz="4200" b="1" spc="-29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about what to cook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415661"/>
            <a:ext cx="5095611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Busy</a:t>
            </a: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Adults &amp;</a:t>
            </a:r>
          </a:p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Households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8996" y="2640164"/>
            <a:ext cx="9832837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67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Target Groups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38578" y="5439474"/>
            <a:ext cx="5010844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Students</a:t>
            </a:r>
          </a:p>
          <a:p>
            <a:pPr algn="l">
              <a:lnSpc>
                <a:spcPts val="5880"/>
              </a:lnSpc>
            </a:pPr>
            <a:r>
              <a:rPr lang="en-US" sz="4900" b="1" spc="-343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living indepently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2994" y="5429949"/>
            <a:ext cx="5095611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1" spc="-364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Families</a:t>
            </a:r>
          </a:p>
          <a:p>
            <a:pPr algn="l">
              <a:lnSpc>
                <a:spcPts val="6000"/>
              </a:lnSpc>
            </a:pPr>
            <a:r>
              <a:rPr lang="en-US" sz="5000" b="1" spc="-35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with multiple ppl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8996" y="4373068"/>
            <a:ext cx="5059773" cy="1178495"/>
            <a:chOff x="0" y="0"/>
            <a:chExt cx="1197686" cy="2789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7686" cy="278959"/>
            </a:xfrm>
            <a:custGeom>
              <a:avLst/>
              <a:gdLst/>
              <a:ahLst/>
              <a:cxnLst/>
              <a:rect l="l" t="t" r="r" b="b"/>
              <a:pathLst>
                <a:path w="1197686" h="278959">
                  <a:moveTo>
                    <a:pt x="42843" y="0"/>
                  </a:moveTo>
                  <a:lnTo>
                    <a:pt x="1154844" y="0"/>
                  </a:lnTo>
                  <a:cubicBezTo>
                    <a:pt x="1166206" y="0"/>
                    <a:pt x="1177103" y="4514"/>
                    <a:pt x="1185138" y="12548"/>
                  </a:cubicBezTo>
                  <a:cubicBezTo>
                    <a:pt x="1193172" y="20583"/>
                    <a:pt x="1197686" y="31480"/>
                    <a:pt x="1197686" y="42843"/>
                  </a:cubicBezTo>
                  <a:lnTo>
                    <a:pt x="1197686" y="236116"/>
                  </a:lnTo>
                  <a:cubicBezTo>
                    <a:pt x="1197686" y="247479"/>
                    <a:pt x="1193172" y="258376"/>
                    <a:pt x="1185138" y="266410"/>
                  </a:cubicBezTo>
                  <a:cubicBezTo>
                    <a:pt x="1177103" y="274445"/>
                    <a:pt x="1166206" y="278959"/>
                    <a:pt x="1154844" y="278959"/>
                  </a:cubicBezTo>
                  <a:lnTo>
                    <a:pt x="42843" y="278959"/>
                  </a:lnTo>
                  <a:cubicBezTo>
                    <a:pt x="31480" y="278959"/>
                    <a:pt x="20583" y="274445"/>
                    <a:pt x="12548" y="266410"/>
                  </a:cubicBezTo>
                  <a:cubicBezTo>
                    <a:pt x="4514" y="258376"/>
                    <a:pt x="0" y="247479"/>
                    <a:pt x="0" y="236116"/>
                  </a:cubicBezTo>
                  <a:lnTo>
                    <a:pt x="0" y="42843"/>
                  </a:lnTo>
                  <a:cubicBezTo>
                    <a:pt x="0" y="31480"/>
                    <a:pt x="4514" y="20583"/>
                    <a:pt x="12548" y="12548"/>
                  </a:cubicBezTo>
                  <a:cubicBezTo>
                    <a:pt x="20583" y="4514"/>
                    <a:pt x="31480" y="0"/>
                    <a:pt x="42843" y="0"/>
                  </a:cubicBezTo>
                  <a:close/>
                </a:path>
              </a:pathLst>
            </a:custGeom>
            <a:ln w="47625" cap="rnd">
              <a:solidFill>
                <a:srgbClr val="FF3131"/>
              </a:solidFill>
              <a:prstDash val="solid"/>
              <a:round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197686" cy="345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User Input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8996" y="6050349"/>
            <a:ext cx="5059773" cy="1178495"/>
            <a:chOff x="0" y="0"/>
            <a:chExt cx="1197686" cy="2789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7686" cy="278959"/>
            </a:xfrm>
            <a:custGeom>
              <a:avLst/>
              <a:gdLst/>
              <a:ahLst/>
              <a:cxnLst/>
              <a:rect l="l" t="t" r="r" b="b"/>
              <a:pathLst>
                <a:path w="1197686" h="278959">
                  <a:moveTo>
                    <a:pt x="42843" y="0"/>
                  </a:moveTo>
                  <a:lnTo>
                    <a:pt x="1154844" y="0"/>
                  </a:lnTo>
                  <a:cubicBezTo>
                    <a:pt x="1166206" y="0"/>
                    <a:pt x="1177103" y="4514"/>
                    <a:pt x="1185138" y="12548"/>
                  </a:cubicBezTo>
                  <a:cubicBezTo>
                    <a:pt x="1193172" y="20583"/>
                    <a:pt x="1197686" y="31480"/>
                    <a:pt x="1197686" y="42843"/>
                  </a:cubicBezTo>
                  <a:lnTo>
                    <a:pt x="1197686" y="236116"/>
                  </a:lnTo>
                  <a:cubicBezTo>
                    <a:pt x="1197686" y="247479"/>
                    <a:pt x="1193172" y="258376"/>
                    <a:pt x="1185138" y="266410"/>
                  </a:cubicBezTo>
                  <a:cubicBezTo>
                    <a:pt x="1177103" y="274445"/>
                    <a:pt x="1166206" y="278959"/>
                    <a:pt x="1154844" y="278959"/>
                  </a:cubicBezTo>
                  <a:lnTo>
                    <a:pt x="42843" y="278959"/>
                  </a:lnTo>
                  <a:cubicBezTo>
                    <a:pt x="31480" y="278959"/>
                    <a:pt x="20583" y="274445"/>
                    <a:pt x="12548" y="266410"/>
                  </a:cubicBezTo>
                  <a:cubicBezTo>
                    <a:pt x="4514" y="258376"/>
                    <a:pt x="0" y="247479"/>
                    <a:pt x="0" y="236116"/>
                  </a:cubicBezTo>
                  <a:lnTo>
                    <a:pt x="0" y="42843"/>
                  </a:lnTo>
                  <a:cubicBezTo>
                    <a:pt x="0" y="31480"/>
                    <a:pt x="4514" y="20583"/>
                    <a:pt x="12548" y="12548"/>
                  </a:cubicBezTo>
                  <a:cubicBezTo>
                    <a:pt x="20583" y="4514"/>
                    <a:pt x="31480" y="0"/>
                    <a:pt x="42843" y="0"/>
                  </a:cubicBezTo>
                  <a:close/>
                </a:path>
              </a:pathLst>
            </a:custGeom>
            <a:ln w="47625" cap="rnd">
              <a:solidFill>
                <a:srgbClr val="FF3131"/>
              </a:solidFill>
              <a:prstDash val="solid"/>
              <a:round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197686" cy="345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Planing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8996" y="7727631"/>
            <a:ext cx="5059773" cy="1529638"/>
            <a:chOff x="0" y="0"/>
            <a:chExt cx="1197686" cy="3620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7686" cy="362077"/>
            </a:xfrm>
            <a:custGeom>
              <a:avLst/>
              <a:gdLst/>
              <a:ahLst/>
              <a:cxnLst/>
              <a:rect l="l" t="t" r="r" b="b"/>
              <a:pathLst>
                <a:path w="1197686" h="362077">
                  <a:moveTo>
                    <a:pt x="42843" y="0"/>
                  </a:moveTo>
                  <a:lnTo>
                    <a:pt x="1154844" y="0"/>
                  </a:lnTo>
                  <a:cubicBezTo>
                    <a:pt x="1166206" y="0"/>
                    <a:pt x="1177103" y="4514"/>
                    <a:pt x="1185138" y="12548"/>
                  </a:cubicBezTo>
                  <a:cubicBezTo>
                    <a:pt x="1193172" y="20583"/>
                    <a:pt x="1197686" y="31480"/>
                    <a:pt x="1197686" y="42843"/>
                  </a:cubicBezTo>
                  <a:lnTo>
                    <a:pt x="1197686" y="319234"/>
                  </a:lnTo>
                  <a:cubicBezTo>
                    <a:pt x="1197686" y="330597"/>
                    <a:pt x="1193172" y="341494"/>
                    <a:pt x="1185138" y="349528"/>
                  </a:cubicBezTo>
                  <a:cubicBezTo>
                    <a:pt x="1177103" y="357563"/>
                    <a:pt x="1166206" y="362077"/>
                    <a:pt x="1154844" y="362077"/>
                  </a:cubicBezTo>
                  <a:lnTo>
                    <a:pt x="42843" y="362077"/>
                  </a:lnTo>
                  <a:cubicBezTo>
                    <a:pt x="31480" y="362077"/>
                    <a:pt x="20583" y="357563"/>
                    <a:pt x="12548" y="349528"/>
                  </a:cubicBezTo>
                  <a:cubicBezTo>
                    <a:pt x="4514" y="341494"/>
                    <a:pt x="0" y="330597"/>
                    <a:pt x="0" y="319234"/>
                  </a:cubicBezTo>
                  <a:lnTo>
                    <a:pt x="0" y="42843"/>
                  </a:lnTo>
                  <a:cubicBezTo>
                    <a:pt x="0" y="31480"/>
                    <a:pt x="4514" y="20583"/>
                    <a:pt x="12548" y="12548"/>
                  </a:cubicBezTo>
                  <a:cubicBezTo>
                    <a:pt x="20583" y="4514"/>
                    <a:pt x="31480" y="0"/>
                    <a:pt x="42843" y="0"/>
                  </a:cubicBezTo>
                  <a:close/>
                </a:path>
              </a:pathLst>
            </a:custGeom>
            <a:ln w="47625" cap="rnd">
              <a:solidFill>
                <a:srgbClr val="FF3131"/>
              </a:solidFill>
              <a:prstDash val="solid"/>
              <a:round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97686" cy="428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Meal Plan + Shopping List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5957738" y="5392845"/>
            <a:ext cx="1159742" cy="661053"/>
          </a:xfrm>
          <a:custGeom>
            <a:avLst/>
            <a:gdLst/>
            <a:ahLst/>
            <a:cxnLst/>
            <a:rect l="l" t="t" r="r" b="b"/>
            <a:pathLst>
              <a:path w="1159742" h="661053">
                <a:moveTo>
                  <a:pt x="0" y="0"/>
                </a:moveTo>
                <a:lnTo>
                  <a:pt x="1159743" y="0"/>
                </a:lnTo>
                <a:lnTo>
                  <a:pt x="1159743" y="661053"/>
                </a:lnTo>
                <a:lnTo>
                  <a:pt x="0" y="661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  <p:sp>
        <p:nvSpPr>
          <p:cNvPr id="12" name="TextBox 12"/>
          <p:cNvSpPr txBox="1"/>
          <p:nvPr/>
        </p:nvSpPr>
        <p:spPr>
          <a:xfrm>
            <a:off x="7998402" y="5551563"/>
            <a:ext cx="908918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-25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 Personalised Meal-Planning AI assistant.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996" y="2640164"/>
            <a:ext cx="13361719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67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Solution: </a:t>
            </a:r>
            <a:r>
              <a:rPr lang="en-US" sz="9600" b="1" spc="-672">
                <a:solidFill>
                  <a:srgbClr val="FF3131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NutriPlan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NutriPlan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8402" y="6972999"/>
            <a:ext cx="9260898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-266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To reduce planning effort &amp;</a:t>
            </a:r>
          </a:p>
          <a:p>
            <a:pPr algn="l">
              <a:lnSpc>
                <a:spcPts val="4560"/>
              </a:lnSpc>
            </a:pPr>
            <a:r>
              <a:rPr lang="en-US" sz="3800" b="1" spc="-266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encourage healthier everyday choices.</a:t>
            </a:r>
          </a:p>
        </p:txBody>
      </p:sp>
      <p:sp>
        <p:nvSpPr>
          <p:cNvPr id="16" name="Freeform 16"/>
          <p:cNvSpPr/>
          <p:nvPr/>
        </p:nvSpPr>
        <p:spPr>
          <a:xfrm rot="5400000">
            <a:off x="5957738" y="7222343"/>
            <a:ext cx="1159742" cy="661053"/>
          </a:xfrm>
          <a:custGeom>
            <a:avLst/>
            <a:gdLst/>
            <a:ahLst/>
            <a:cxnLst/>
            <a:rect l="l" t="t" r="r" b="b"/>
            <a:pathLst>
              <a:path w="1159742" h="661053">
                <a:moveTo>
                  <a:pt x="0" y="0"/>
                </a:moveTo>
                <a:lnTo>
                  <a:pt x="1159743" y="0"/>
                </a:lnTo>
                <a:lnTo>
                  <a:pt x="1159743" y="661053"/>
                </a:lnTo>
                <a:lnTo>
                  <a:pt x="0" y="661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828800" y="1758315"/>
            <a:ext cx="14630400" cy="8229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449889" y="670560"/>
            <a:ext cx="3388221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9600" b="1" spc="-96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NutriPlan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4397" y="3998055"/>
            <a:ext cx="16768982" cy="3069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09"/>
              </a:lnSpc>
            </a:pPr>
            <a:r>
              <a:rPr lang="en-US" sz="28262" b="1" spc="-2826" dirty="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Question?</a:t>
            </a:r>
          </a:p>
        </p:txBody>
      </p:sp>
      <p:sp>
        <p:nvSpPr>
          <p:cNvPr id="3" name="TextBox 3"/>
          <p:cNvSpPr txBox="1"/>
          <p:nvPr/>
        </p:nvSpPr>
        <p:spPr>
          <a:xfrm rot="-263831">
            <a:off x="3016992" y="4463611"/>
            <a:ext cx="12243792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spc="-144">
                <a:solidFill>
                  <a:srgbClr val="FF3131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NutriPlan 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76325"/>
            <a:ext cx="4309525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SDG 3 | Good Health &amp; Well-being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90898" y="1076325"/>
            <a:ext cx="1768402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 Sep,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8996" y="9065260"/>
            <a:ext cx="2663924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AI For Good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95195" y="9065260"/>
            <a:ext cx="2406389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Week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73858" y="9065260"/>
            <a:ext cx="2849322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Hackathon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95454" y="9041130"/>
            <a:ext cx="3663846" cy="28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</Words>
  <Application>Microsoft Macintosh PowerPoint</Application>
  <PresentationFormat>Custom</PresentationFormat>
  <Paragraphs>54</Paragraphs>
  <Slides>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Amsterdam Four</vt:lpstr>
      <vt:lpstr>Montserrat</vt:lpstr>
      <vt:lpstr>Arial</vt:lpstr>
      <vt:lpstr>Montserrat Bold</vt:lpstr>
      <vt:lpstr>Calibri</vt:lpstr>
      <vt:lpstr>Montserrat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Ai4g W2 hackathon (NutriPlan - Min &amp; Benjamin)</dc:title>
  <cp:lastModifiedBy>Minhyeok Sung</cp:lastModifiedBy>
  <cp:revision>2</cp:revision>
  <dcterms:created xsi:type="dcterms:W3CDTF">2006-08-16T00:00:00Z</dcterms:created>
  <dcterms:modified xsi:type="dcterms:W3CDTF">2026-09-17T20:29:06Z</dcterms:modified>
  <dc:identifier>DAHVc6EdxbA</dc:identifier>
</cp:coreProperties>
</file>