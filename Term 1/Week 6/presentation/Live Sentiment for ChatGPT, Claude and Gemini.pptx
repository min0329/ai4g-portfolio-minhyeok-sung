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3" r:id="rId8"/>
    <p:sldId id="264" r:id="rId9"/>
    <p:sldId id="265" r:id="rId10"/>
    <p:sldId id="266"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25"/>
    <p:restoredTop sz="94610"/>
  </p:normalViewPr>
  <p:slideViewPr>
    <p:cSldViewPr snapToGrid="0" snapToObjects="1">
      <p:cViewPr>
        <p:scale>
          <a:sx n="83" d="100"/>
          <a:sy n="83" d="100"/>
        </p:scale>
        <p:origin x="1560" y="1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194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Jalie and Minhyeok. Our project is a live dashboard that tracks how people talk about ChatGPT, Claude and Gemini online, and whether those reactions are positive, neutral or negative.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Companies like OpenAI, Anthropic and Google update their assistants all the time. People react to that online, but those reactions are scattered everywhere. Reading all of it by hand doesn't work once the volume grows, and things change within hours. That's the gap we looked at.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 is Elon, a made-up analyst on the ChatGPT team. His job is to keep an eye on public reactions. The decision the dashboard helps with: which issues keep coming back and should be passed on to the product or comms team, and how urgent that 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Innovation is a cycle: release, people use it, they react, and that feedback should go back into the next version. For AI assistants this cycle is really fast. Our dashboard helps with the step where public reactions become something a team can act on. The GPT-4o rollback shows this actually happens. We're honest that our contribution is indirect.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Python collector grabs new posts every five minutes, sorts them per assistant, lets the transformer label them, and saves everything in a SQLite database. The Streamlit dashboard reads from that database. We picked this model because it was trained on tweets, and Bluesky posts look a lot like tweets.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view. Each assistant gets its own chart: green is positive, grey neutral, red negative. You can group per hour or per day, and switch to counts so you can see if a big percentage is based on only a few posts.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added three ways to look inside the predictions. They show which words made the model go positive or negative. It's an estimate, but it helps the analyst spot new topics quickly, like a sudden rise in the word "suing".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labelled 74 posts from our own stream by hand and compared three methods. RoBERTa agreed with us 70 percent of the time, DistilBERT 53 percent, and a simple word-list baseline 42 percent. RoBERTa is also multilingual, which DistilBERT isn't, so we kept RoBERTa. But 22 disagreements is still a lot, which is why the posts always stay visible.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stuck with us. Any person reads this as negative, but the model saw "not quite as bad" and went neutral. It's not a one-off: six of our thirty negative posts were labelled neutral. For Elon that's the dangerous mistake, because a complaint just disappears into grey. That's why we made the original posts one click away.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not everyone's opinion. It's mostly Bluesky, so one viral thread can dominate the chart. The model gets sarcasm wrong. We store real people's words, so we keep it local. And we found that Apple's terms don't allow this kind of scraping, so that source should be turned off. What we did: show counts, keep comparisons separate, and keep the posts readable.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our main message: the chart tells Elon where to look, but the actual posts tell him what to do. Thanks for listening,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E2329"/>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1E2329"/>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E2329"/>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1E2329"/>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32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B9BEC4"/>
                </a:solidFill>
                <a:latin typeface="IBM Plex Sans" pitchFamily="34" charset="0"/>
                <a:ea typeface="IBM Plex Sans" pitchFamily="34" charset="-122"/>
                <a:cs typeface="IBM Plex Sans" pitchFamily="34" charset="-120"/>
              </a:rPr>
              <a:t>AI FOR GOOD MINOR | WEEK 6 HACKATHON</a:t>
            </a:r>
            <a:endParaRPr lang="en-US" sz="1400" dirty="0"/>
          </a:p>
        </p:txBody>
      </p:sp>
      <p:pic>
        <p:nvPicPr>
          <p:cNvPr id="3" name="Image 0" descr="rect"/>
          <p:cNvPicPr>
            <a:picLocks noChangeAspect="1"/>
          </p:cNvPicPr>
          <p:nvPr/>
        </p:nvPicPr>
        <p:blipFill>
          <a:blip r:embed="rId3"/>
          <a:srcRect/>
          <a:stretch/>
        </p:blipFill>
        <p:spPr>
          <a:xfrm>
            <a:off x="812800" y="2004120"/>
            <a:ext cx="762000" cy="101600"/>
          </a:xfrm>
          <a:prstGeom prst="rect">
            <a:avLst/>
          </a:prstGeom>
        </p:spPr>
      </p:pic>
      <p:pic>
        <p:nvPicPr>
          <p:cNvPr id="4" name="Image 1" descr="rect"/>
          <p:cNvPicPr>
            <a:picLocks noChangeAspect="1"/>
          </p:cNvPicPr>
          <p:nvPr/>
        </p:nvPicPr>
        <p:blipFill>
          <a:blip r:embed="rId4"/>
          <a:srcRect/>
          <a:stretch/>
        </p:blipFill>
        <p:spPr>
          <a:xfrm>
            <a:off x="1676400" y="2004120"/>
            <a:ext cx="762000" cy="101600"/>
          </a:xfrm>
          <a:prstGeom prst="rect">
            <a:avLst/>
          </a:prstGeom>
        </p:spPr>
      </p:pic>
      <p:pic>
        <p:nvPicPr>
          <p:cNvPr id="5" name="Image 2" descr="rect"/>
          <p:cNvPicPr>
            <a:picLocks noChangeAspect="1"/>
          </p:cNvPicPr>
          <p:nvPr/>
        </p:nvPicPr>
        <p:blipFill>
          <a:blip r:embed="rId5"/>
          <a:srcRect/>
          <a:stretch/>
        </p:blipFill>
        <p:spPr>
          <a:xfrm>
            <a:off x="2540000" y="2004120"/>
            <a:ext cx="762000" cy="101600"/>
          </a:xfrm>
          <a:prstGeom prst="rect">
            <a:avLst/>
          </a:prstGeom>
        </p:spPr>
      </p:pic>
      <p:sp>
        <p:nvSpPr>
          <p:cNvPr id="6" name="Text 1"/>
          <p:cNvSpPr>
            <a:spLocks noGrp="1"/>
          </p:cNvSpPr>
          <p:nvPr>
            <p:ph type="title"/>
          </p:nvPr>
        </p:nvSpPr>
        <p:spPr>
          <a:xfrm>
            <a:off x="812800" y="2359720"/>
            <a:ext cx="9810750"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4F2EC"/>
                </a:solidFill>
                <a:latin typeface="IBM Plex Sans" pitchFamily="34" charset="0"/>
                <a:ea typeface="IBM Plex Sans" pitchFamily="34" charset="-122"/>
                <a:cs typeface="IBM Plex Sans" pitchFamily="34" charset="-120"/>
              </a:rPr>
              <a:t>Live Sentiment for </a:t>
            </a:r>
            <a:endParaRPr lang="en-US" sz="5600" dirty="0"/>
          </a:p>
          <a:p>
            <a:pPr marL="0" indent="0" algn="l">
              <a:lnSpc>
                <a:spcPts val="5880"/>
              </a:lnSpc>
              <a:buNone/>
            </a:pPr>
            <a:r>
              <a:rPr lang="en-US" sz="5600" b="1" i="0" dirty="0">
                <a:solidFill>
                  <a:srgbClr val="F4F2EC"/>
                </a:solidFill>
                <a:latin typeface="IBM Plex Sans" pitchFamily="34" charset="0"/>
                <a:ea typeface="IBM Plex Sans" pitchFamily="34" charset="-122"/>
                <a:cs typeface="IBM Plex Sans" pitchFamily="34" charset="-120"/>
              </a:rPr>
              <a:t>ChatGPT, Claude and Gemini</a:t>
            </a:r>
            <a:endParaRPr lang="en-US" sz="5600" dirty="0"/>
          </a:p>
        </p:txBody>
      </p:sp>
      <p:sp>
        <p:nvSpPr>
          <p:cNvPr id="7" name="Text 2"/>
          <p:cNvSpPr/>
          <p:nvPr/>
        </p:nvSpPr>
        <p:spPr>
          <a:xfrm>
            <a:off x="812800" y="4107160"/>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D6D9DC"/>
                </a:solidFill>
                <a:latin typeface="IBM Plex Sans" pitchFamily="34" charset="0"/>
                <a:ea typeface="IBM Plex Sans" pitchFamily="34" charset="-122"/>
                <a:cs typeface="IBM Plex Sans" pitchFamily="34" charset="-120"/>
              </a:rPr>
              <a:t>A dashboard that shows how people react to AI assistants,</a:t>
            </a:r>
            <a:endParaRPr lang="en-US" sz="2000" dirty="0"/>
          </a:p>
          <a:p>
            <a:pPr marL="0" indent="0" algn="l">
              <a:lnSpc>
                <a:spcPts val="2800"/>
              </a:lnSpc>
              <a:buNone/>
            </a:pPr>
            <a:r>
              <a:rPr lang="en-US" sz="2000" dirty="0">
                <a:solidFill>
                  <a:srgbClr val="D6D9DC"/>
                </a:solidFill>
                <a:latin typeface="IBM Plex Sans" pitchFamily="34" charset="0"/>
                <a:ea typeface="IBM Plex Sans" pitchFamily="34" charset="-122"/>
                <a:cs typeface="IBM Plex Sans" pitchFamily="34" charset="-120"/>
              </a:rPr>
              <a:t>while it happens.</a:t>
            </a:r>
            <a:endParaRPr lang="en-US" sz="2000" dirty="0"/>
          </a:p>
        </p:txBody>
      </p:sp>
      <p:sp>
        <p:nvSpPr>
          <p:cNvPr id="8" name="Text 3"/>
          <p:cNvSpPr/>
          <p:nvPr/>
        </p:nvSpPr>
        <p:spPr>
          <a:xfrm>
            <a:off x="812800" y="576074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BEC4"/>
                </a:solidFill>
                <a:latin typeface="IBM Plex Sans" pitchFamily="34" charset="0"/>
                <a:ea typeface="IBM Plex Sans" pitchFamily="34" charset="-122"/>
                <a:cs typeface="IBM Plex Sans" pitchFamily="34" charset="-120"/>
              </a:rPr>
              <a:t>Jalie Vermeegen &amp; Minhyeok Sung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The problem</a:t>
            </a:r>
            <a:endParaRPr lang="en-US" sz="3200" dirty="0"/>
          </a:p>
        </p:txBody>
      </p:sp>
      <p:sp>
        <p:nvSpPr>
          <p:cNvPr id="3" name="Text 1"/>
          <p:cNvSpPr/>
          <p:nvPr/>
        </p:nvSpPr>
        <p:spPr>
          <a:xfrm>
            <a:off x="812800" y="1615430"/>
            <a:ext cx="9483725"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1E2329"/>
                </a:solidFill>
                <a:latin typeface="IBM Plex Sans" pitchFamily="34" charset="0"/>
                <a:ea typeface="IBM Plex Sans" pitchFamily="34" charset="-122"/>
                <a:cs typeface="IBM Plex Sans" pitchFamily="34" charset="-120"/>
              </a:rPr>
              <a:t>AI assistants change every few weeks. What people think of those changes is spread over thousands of posts, comments and reviews.</a:t>
            </a:r>
            <a:endParaRPr lang="en-US" sz="2000" dirty="0"/>
          </a:p>
        </p:txBody>
      </p:sp>
      <p:sp>
        <p:nvSpPr>
          <p:cNvPr id="4" name="Shape 2"/>
          <p:cNvSpPr/>
          <p:nvPr/>
        </p:nvSpPr>
        <p:spPr>
          <a:xfrm>
            <a:off x="815975" y="2660005"/>
            <a:ext cx="3380284" cy="1636911"/>
          </a:xfrm>
          <a:prstGeom prst="roundRect">
            <a:avLst>
              <a:gd name="adj" fmla="val 4461"/>
            </a:avLst>
          </a:prstGeom>
          <a:solidFill>
            <a:srgbClr val="FBFAF7"/>
          </a:solidFill>
          <a:ln w="6350">
            <a:solidFill>
              <a:srgbClr val="DDD8CC"/>
            </a:solidFill>
            <a:prstDash val="solid"/>
          </a:ln>
        </p:spPr>
        <p:txBody>
          <a:bodyPr/>
          <a:lstStyle/>
          <a:p>
            <a:endParaRPr lang="en-NL"/>
          </a:p>
        </p:txBody>
      </p:sp>
      <p:sp>
        <p:nvSpPr>
          <p:cNvPr id="5" name="Text 3"/>
          <p:cNvSpPr/>
          <p:nvPr/>
        </p:nvSpPr>
        <p:spPr>
          <a:xfrm>
            <a:off x="1073150" y="291718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Too much to read</a:t>
            </a:r>
            <a:endParaRPr lang="en-US" sz="1800" dirty="0"/>
          </a:p>
        </p:txBody>
      </p:sp>
      <p:sp>
        <p:nvSpPr>
          <p:cNvPr id="6" name="Text 4"/>
          <p:cNvSpPr/>
          <p:nvPr/>
        </p:nvSpPr>
        <p:spPr>
          <a:xfrm>
            <a:off x="1073150" y="3293070"/>
            <a:ext cx="2951912"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Checking several platforms by hand takes too long once the posts start piling up.</a:t>
            </a:r>
            <a:endParaRPr lang="en-US" sz="1400" dirty="0"/>
          </a:p>
        </p:txBody>
      </p:sp>
      <p:sp>
        <p:nvSpPr>
          <p:cNvPr id="7" name="Shape 5"/>
          <p:cNvSpPr/>
          <p:nvPr/>
        </p:nvSpPr>
        <p:spPr>
          <a:xfrm>
            <a:off x="4405809" y="2660005"/>
            <a:ext cx="3380333" cy="1636911"/>
          </a:xfrm>
          <a:prstGeom prst="roundRect">
            <a:avLst>
              <a:gd name="adj" fmla="val 4461"/>
            </a:avLst>
          </a:prstGeom>
          <a:solidFill>
            <a:srgbClr val="FBFAF7"/>
          </a:solidFill>
          <a:ln w="6350">
            <a:solidFill>
              <a:srgbClr val="DDD8CC"/>
            </a:solidFill>
            <a:prstDash val="solid"/>
          </a:ln>
        </p:spPr>
        <p:txBody>
          <a:bodyPr/>
          <a:lstStyle/>
          <a:p>
            <a:endParaRPr lang="en-NL"/>
          </a:p>
        </p:txBody>
      </p:sp>
      <p:sp>
        <p:nvSpPr>
          <p:cNvPr id="8" name="Text 6"/>
          <p:cNvSpPr/>
          <p:nvPr/>
        </p:nvSpPr>
        <p:spPr>
          <a:xfrm>
            <a:off x="4662984" y="29171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It moves fast</a:t>
            </a:r>
            <a:endParaRPr lang="en-US" sz="1800" dirty="0"/>
          </a:p>
        </p:txBody>
      </p:sp>
      <p:sp>
        <p:nvSpPr>
          <p:cNvPr id="9" name="Text 7"/>
          <p:cNvSpPr/>
          <p:nvPr/>
        </p:nvSpPr>
        <p:spPr>
          <a:xfrm>
            <a:off x="4662984" y="3293070"/>
            <a:ext cx="295196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An announcement or one viral post can change the conversation within hours.</a:t>
            </a:r>
            <a:endParaRPr lang="en-US" sz="1400" dirty="0"/>
          </a:p>
        </p:txBody>
      </p:sp>
      <p:sp>
        <p:nvSpPr>
          <p:cNvPr id="10" name="Shape 8"/>
          <p:cNvSpPr/>
          <p:nvPr/>
        </p:nvSpPr>
        <p:spPr>
          <a:xfrm>
            <a:off x="7995692" y="2660005"/>
            <a:ext cx="3380333" cy="1636911"/>
          </a:xfrm>
          <a:prstGeom prst="roundRect">
            <a:avLst>
              <a:gd name="adj" fmla="val 4461"/>
            </a:avLst>
          </a:prstGeom>
          <a:solidFill>
            <a:srgbClr val="FBFAF7"/>
          </a:solidFill>
          <a:ln w="6350">
            <a:solidFill>
              <a:srgbClr val="DDD8CC"/>
            </a:solidFill>
            <a:prstDash val="solid"/>
          </a:ln>
        </p:spPr>
        <p:txBody>
          <a:bodyPr/>
          <a:lstStyle/>
          <a:p>
            <a:endParaRPr lang="en-NL"/>
          </a:p>
        </p:txBody>
      </p:sp>
      <p:sp>
        <p:nvSpPr>
          <p:cNvPr id="11" name="Text 9"/>
          <p:cNvSpPr/>
          <p:nvPr/>
        </p:nvSpPr>
        <p:spPr>
          <a:xfrm>
            <a:off x="8252867" y="29171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Easy to miss</a:t>
            </a:r>
            <a:endParaRPr lang="en-US" sz="1800" dirty="0"/>
          </a:p>
        </p:txBody>
      </p:sp>
      <p:sp>
        <p:nvSpPr>
          <p:cNvPr id="12" name="Text 10"/>
          <p:cNvSpPr/>
          <p:nvPr/>
        </p:nvSpPr>
        <p:spPr>
          <a:xfrm>
            <a:off x="8252867" y="3293070"/>
            <a:ext cx="295196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A real complaint gets buried between memes, jokes and general opinions about AI.</a:t>
            </a:r>
            <a:endParaRPr lang="en-US" sz="1400" dirty="0"/>
          </a:p>
        </p:txBody>
      </p:sp>
      <p:sp>
        <p:nvSpPr>
          <p:cNvPr id="13" name="Text 11"/>
          <p:cNvSpPr/>
          <p:nvPr/>
        </p:nvSpPr>
        <p:spPr>
          <a:xfrm>
            <a:off x="812800" y="6238280"/>
            <a:ext cx="355633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79"/>
                </a:solidFill>
                <a:latin typeface="IBM Plex Sans" pitchFamily="34" charset="0"/>
                <a:ea typeface="IBM Plex Sans" pitchFamily="34" charset="-122"/>
                <a:cs typeface="IBM Plex Sans" pitchFamily="34" charset="-120"/>
              </a:rPr>
              <a:t>Source: IBM, “What is sentiment analysis?”</a:t>
            </a:r>
            <a:endParaRPr lang="en-US" sz="1200" dirty="0"/>
          </a:p>
        </p:txBody>
      </p:sp>
      <p:sp>
        <p:nvSpPr>
          <p:cNvPr id="14" name="Text 12"/>
          <p:cNvSpPr/>
          <p:nvPr/>
        </p:nvSpPr>
        <p:spPr>
          <a:xfrm>
            <a:off x="11236920" y="6238280"/>
            <a:ext cx="142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Our user and his decision</a:t>
            </a:r>
            <a:endParaRPr lang="en-US" sz="3200" dirty="0"/>
          </a:p>
        </p:txBody>
      </p:sp>
      <p:sp>
        <p:nvSpPr>
          <p:cNvPr id="3" name="Text 1"/>
          <p:cNvSpPr/>
          <p:nvPr/>
        </p:nvSpPr>
        <p:spPr>
          <a:xfrm>
            <a:off x="812800" y="1615430"/>
            <a:ext cx="494461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Meet Elon (fictional)</a:t>
            </a:r>
            <a:endParaRPr lang="en-US" sz="1800" dirty="0"/>
          </a:p>
        </p:txBody>
      </p:sp>
      <p:sp>
        <p:nvSpPr>
          <p:cNvPr id="4" name="Text 2"/>
          <p:cNvSpPr/>
          <p:nvPr/>
        </p:nvSpPr>
        <p:spPr>
          <a:xfrm>
            <a:off x="812800" y="2042120"/>
            <a:ext cx="4944618" cy="90929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A4148"/>
                </a:solidFill>
                <a:latin typeface="IBM Plex Sans" pitchFamily="34" charset="0"/>
                <a:ea typeface="IBM Plex Sans" pitchFamily="34" charset="-122"/>
                <a:cs typeface="IBM Plex Sans" pitchFamily="34" charset="-120"/>
              </a:rPr>
              <a:t>Product analyst on the ChatGPT team at OpenAI. He follows what people say about ChatGPT, and about Claude and Gemini to compare.</a:t>
            </a:r>
            <a:endParaRPr lang="en-US" sz="1600" dirty="0"/>
          </a:p>
        </p:txBody>
      </p:sp>
      <p:sp>
        <p:nvSpPr>
          <p:cNvPr id="5" name="Text 3"/>
          <p:cNvSpPr/>
          <p:nvPr/>
        </p:nvSpPr>
        <p:spPr>
          <a:xfrm>
            <a:off x="812800" y="3078411"/>
            <a:ext cx="5105400" cy="32003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A4148"/>
                </a:solidFill>
                <a:latin typeface="IBM Plex Sans" pitchFamily="34" charset="0"/>
                <a:ea typeface="IBM Plex Sans" pitchFamily="34" charset="-122"/>
                <a:cs typeface="IBM Plex Sans" pitchFamily="34" charset="-120"/>
              </a:rPr>
              <a:t>The same goes for analysts at Anthropic and Google.</a:t>
            </a:r>
            <a:endParaRPr lang="en-US" sz="1600" dirty="0"/>
          </a:p>
        </p:txBody>
      </p:sp>
      <p:sp>
        <p:nvSpPr>
          <p:cNvPr id="6" name="Shape 4"/>
          <p:cNvSpPr/>
          <p:nvPr/>
        </p:nvSpPr>
        <p:spPr>
          <a:xfrm>
            <a:off x="5918200" y="1615430"/>
            <a:ext cx="5461000" cy="2382490"/>
          </a:xfrm>
          <a:prstGeom prst="roundRect">
            <a:avLst>
              <a:gd name="adj" fmla="val 2132"/>
            </a:avLst>
          </a:prstGeom>
          <a:solidFill>
            <a:srgbClr val="E1E8F7"/>
          </a:solidFill>
          <a:ln/>
        </p:spPr>
        <p:txBody>
          <a:bodyPr/>
          <a:lstStyle/>
          <a:p>
            <a:endParaRPr lang="en-NL"/>
          </a:p>
        </p:txBody>
      </p:sp>
      <p:sp>
        <p:nvSpPr>
          <p:cNvPr id="7" name="Shape 5"/>
          <p:cNvSpPr/>
          <p:nvPr/>
        </p:nvSpPr>
        <p:spPr>
          <a:xfrm>
            <a:off x="5918200" y="1615430"/>
            <a:ext cx="5461000" cy="2382490"/>
          </a:xfrm>
          <a:custGeom>
            <a:avLst/>
            <a:gdLst/>
            <a:ahLst/>
            <a:cxnLst/>
            <a:rect l="l" t="t" r="r" b="b"/>
            <a:pathLst>
              <a:path w="5461000" h="2382490">
                <a:moveTo>
                  <a:pt x="50800" y="2382490"/>
                </a:moveTo>
                <a:lnTo>
                  <a:pt x="50800" y="2382490"/>
                </a:lnTo>
                <a:arcTo wR="50800" hR="50800" stAng="5400000" swAng="5400000"/>
                <a:lnTo>
                  <a:pt x="0" y="50800"/>
                </a:lnTo>
                <a:arcTo wR="50800" hR="50800" stAng="10800000" swAng="5400000"/>
                <a:lnTo>
                  <a:pt x="50800" y="0"/>
                </a:lnTo>
                <a:lnTo>
                  <a:pt x="50800" y="2382490"/>
                </a:lnTo>
                <a:close/>
              </a:path>
            </a:pathLst>
          </a:custGeom>
          <a:solidFill>
            <a:srgbClr val="2C5FCF"/>
          </a:solidFill>
          <a:ln/>
        </p:spPr>
        <p:txBody>
          <a:bodyPr/>
          <a:lstStyle/>
          <a:p>
            <a:endParaRPr lang="en-NL"/>
          </a:p>
        </p:txBody>
      </p:sp>
      <p:sp>
        <p:nvSpPr>
          <p:cNvPr id="8" name="Text 6"/>
          <p:cNvSpPr/>
          <p:nvPr/>
        </p:nvSpPr>
        <p:spPr>
          <a:xfrm>
            <a:off x="6273800" y="1920230"/>
            <a:ext cx="4944618" cy="274290"/>
          </a:xfrm>
          <a:prstGeom prst="rect">
            <a:avLst/>
          </a:prstGeom>
          <a:noFill/>
          <a:ln/>
        </p:spPr>
        <p:txBody>
          <a:bodyPr wrap="square" lIns="0" tIns="0" rIns="0" bIns="0" rtlCol="0" anchor="t">
            <a:normAutofit/>
          </a:bodyPr>
          <a:lstStyle/>
          <a:p>
            <a:pPr marL="0" indent="0" algn="l">
              <a:lnSpc>
                <a:spcPts val="1960"/>
              </a:lnSpc>
              <a:buNone/>
            </a:pPr>
            <a:r>
              <a:rPr lang="en-US" sz="1400" b="1" kern="0" spc="50" dirty="0">
                <a:solidFill>
                  <a:srgbClr val="2C5FCF"/>
                </a:solidFill>
                <a:latin typeface="IBM Plex Sans" pitchFamily="34" charset="0"/>
                <a:ea typeface="IBM Plex Sans" pitchFamily="34" charset="-122"/>
                <a:cs typeface="IBM Plex Sans" pitchFamily="34" charset="-120"/>
              </a:rPr>
              <a:t>HIS DECISION</a:t>
            </a:r>
            <a:endParaRPr lang="en-US" sz="1400" dirty="0"/>
          </a:p>
        </p:txBody>
      </p:sp>
      <p:sp>
        <p:nvSpPr>
          <p:cNvPr id="9" name="Text 7"/>
          <p:cNvSpPr/>
          <p:nvPr/>
        </p:nvSpPr>
        <p:spPr>
          <a:xfrm>
            <a:off x="6273800" y="2321520"/>
            <a:ext cx="4944618" cy="13970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1E2329"/>
                </a:solidFill>
                <a:latin typeface="IBM Plex Sans" pitchFamily="34" charset="0"/>
                <a:ea typeface="IBM Plex Sans" pitchFamily="34" charset="-122"/>
                <a:cs typeface="IBM Plex Sans" pitchFamily="34" charset="-120"/>
              </a:rPr>
              <a:t>Which recurring issues should go to the product or communications team, and does it need attention today or can it wait for a later report?</a:t>
            </a:r>
            <a:endParaRPr lang="en-US" sz="2000" dirty="0"/>
          </a:p>
        </p:txBody>
      </p:sp>
      <p:sp>
        <p:nvSpPr>
          <p:cNvPr id="10" name="Text 8"/>
          <p:cNvSpPr/>
          <p:nvPr/>
        </p:nvSpPr>
        <p:spPr>
          <a:xfrm>
            <a:off x="812800" y="4353520"/>
            <a:ext cx="113792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E2329"/>
                </a:solidFill>
                <a:latin typeface="IBM Plex Sans" pitchFamily="34" charset="0"/>
                <a:ea typeface="IBM Plex Sans" pitchFamily="34" charset="-122"/>
                <a:cs typeface="IBM Plex Sans" pitchFamily="34" charset="-120"/>
              </a:rPr>
              <a:t>Example:</a:t>
            </a:r>
            <a:r>
              <a:rPr lang="en-US" sz="1500" dirty="0">
                <a:solidFill>
                  <a:srgbClr val="4A525A"/>
                </a:solidFill>
                <a:latin typeface="IBM Plex Sans" pitchFamily="34" charset="0"/>
                <a:ea typeface="IBM Plex Sans" pitchFamily="34" charset="-122"/>
                <a:cs typeface="IBM Plex Sans" pitchFamily="34" charset="-120"/>
              </a:rPr>
              <a:t> lots of posts worried about privacy → Elon asks the comms team to check if their explanations are clear enough.</a:t>
            </a:r>
            <a:endParaRPr lang="en-US" sz="1500" dirty="0"/>
          </a:p>
        </p:txBody>
      </p:sp>
      <p:sp>
        <p:nvSpPr>
          <p:cNvPr id="11" name="Text 9"/>
          <p:cNvSpPr/>
          <p:nvPr/>
        </p:nvSpPr>
        <p:spPr>
          <a:xfrm>
            <a:off x="11236920" y="6238280"/>
            <a:ext cx="142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SDG 9: Industry, Innovation and Infrastructure</a:t>
            </a:r>
            <a:endParaRPr lang="en-US" sz="3200" dirty="0"/>
          </a:p>
        </p:txBody>
      </p:sp>
      <p:sp>
        <p:nvSpPr>
          <p:cNvPr id="3" name="Text 1"/>
          <p:cNvSpPr/>
          <p:nvPr/>
        </p:nvSpPr>
        <p:spPr>
          <a:xfrm>
            <a:off x="812800" y="136143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25A"/>
                </a:solidFill>
                <a:latin typeface="IBM Plex Sans" pitchFamily="34" charset="0"/>
                <a:ea typeface="IBM Plex Sans" pitchFamily="34" charset="-122"/>
                <a:cs typeface="IBM Plex Sans" pitchFamily="34" charset="-120"/>
              </a:rPr>
              <a:t>Target 9.5: encourage innovation and improve technological capabilities.</a:t>
            </a:r>
            <a:endParaRPr lang="en-US" sz="1600" dirty="0"/>
          </a:p>
        </p:txBody>
      </p:sp>
      <p:sp>
        <p:nvSpPr>
          <p:cNvPr id="4" name="Text 2"/>
          <p:cNvSpPr/>
          <p:nvPr/>
        </p:nvSpPr>
        <p:spPr>
          <a:xfrm>
            <a:off x="815975" y="2073870"/>
            <a:ext cx="2219325" cy="892770"/>
          </a:xfrm>
          <a:prstGeom prst="roundRect">
            <a:avLst>
              <a:gd name="adj" fmla="val 8180"/>
            </a:avLst>
          </a:prstGeom>
          <a:solidFill>
            <a:srgbClr val="FBFAF7"/>
          </a:solidFill>
          <a:ln w="6350">
            <a:solidFill>
              <a:srgbClr val="DDD8CC"/>
            </a:solidFill>
            <a:prstDash val="solid"/>
          </a:ln>
        </p:spPr>
        <p:txBody>
          <a:bodyPr wrap="square" lIns="184987" tIns="184987" rIns="130789" bIns="159587" rtlCol="0" anchor="t">
            <a:noAutofit/>
          </a:bodyPr>
          <a:lstStyle/>
          <a:p>
            <a:pPr marL="0" indent="0" algn="ctr">
              <a:lnSpc>
                <a:spcPts val="1890"/>
              </a:lnSpc>
              <a:buNone/>
            </a:pPr>
            <a:r>
              <a:rPr lang="en-US" sz="1000" dirty="0">
                <a:solidFill>
                  <a:srgbClr val="1E2329"/>
                </a:solidFill>
                <a:latin typeface="IBM Plex Sans" pitchFamily="34" charset="0"/>
              </a:rPr>
              <a:t>LLM companies release another update or a new trend pops up</a:t>
            </a:r>
            <a:endParaRPr lang="en-US" sz="1000" dirty="0"/>
          </a:p>
        </p:txBody>
      </p:sp>
      <p:pic>
        <p:nvPicPr>
          <p:cNvPr id="5" name="Image 0" descr="arrow-right"/>
          <p:cNvPicPr>
            <a:picLocks noChangeAspect="1"/>
          </p:cNvPicPr>
          <p:nvPr/>
        </p:nvPicPr>
        <p:blipFill>
          <a:blip r:embed="rId3"/>
          <a:srcRect/>
          <a:stretch/>
        </p:blipFill>
        <p:spPr>
          <a:xfrm>
            <a:off x="3140075" y="2393255"/>
            <a:ext cx="355600" cy="254000"/>
          </a:xfrm>
          <a:prstGeom prst="rect">
            <a:avLst/>
          </a:prstGeom>
        </p:spPr>
      </p:pic>
      <p:sp>
        <p:nvSpPr>
          <p:cNvPr id="6" name="Text 3"/>
          <p:cNvSpPr/>
          <p:nvPr/>
        </p:nvSpPr>
        <p:spPr>
          <a:xfrm>
            <a:off x="3600450" y="2073870"/>
            <a:ext cx="2219325" cy="892770"/>
          </a:xfrm>
          <a:prstGeom prst="roundRect">
            <a:avLst>
              <a:gd name="adj" fmla="val 8180"/>
            </a:avLst>
          </a:prstGeom>
          <a:solidFill>
            <a:srgbClr val="FBFAF7"/>
          </a:solidFill>
          <a:ln w="6350">
            <a:solidFill>
              <a:srgbClr val="DDD8CC"/>
            </a:solidFill>
            <a:prstDash val="solid"/>
          </a:ln>
        </p:spPr>
        <p:txBody>
          <a:bodyPr wrap="square" lIns="184987" tIns="184987" rIns="130789" bIns="159587" rtlCol="0" anchor="t">
            <a:normAutofit/>
          </a:bodyPr>
          <a:lstStyle/>
          <a:p>
            <a:pPr marL="0" indent="0" algn="l">
              <a:lnSpc>
                <a:spcPts val="1890"/>
              </a:lnSpc>
              <a:buNone/>
            </a:pPr>
            <a:r>
              <a:rPr lang="en-US" sz="1400" dirty="0">
                <a:solidFill>
                  <a:srgbClr val="1E2329"/>
                </a:solidFill>
                <a:latin typeface="IBM Plex Sans" pitchFamily="34" charset="0"/>
                <a:ea typeface="IBM Plex Sans" pitchFamily="34" charset="-122"/>
                <a:cs typeface="IBM Plex Sans" pitchFamily="34" charset="-120"/>
              </a:rPr>
              <a:t>People use it and post about it</a:t>
            </a:r>
            <a:endParaRPr lang="en-US" sz="1400" dirty="0"/>
          </a:p>
        </p:txBody>
      </p:sp>
      <p:pic>
        <p:nvPicPr>
          <p:cNvPr id="7" name="Image 1" descr="arrow-right"/>
          <p:cNvPicPr>
            <a:picLocks noChangeAspect="1"/>
          </p:cNvPicPr>
          <p:nvPr/>
        </p:nvPicPr>
        <p:blipFill>
          <a:blip r:embed="rId3"/>
          <a:srcRect/>
          <a:stretch/>
        </p:blipFill>
        <p:spPr>
          <a:xfrm>
            <a:off x="5924550" y="2393255"/>
            <a:ext cx="355600" cy="254000"/>
          </a:xfrm>
          <a:prstGeom prst="rect">
            <a:avLst/>
          </a:prstGeom>
        </p:spPr>
      </p:pic>
      <p:sp>
        <p:nvSpPr>
          <p:cNvPr id="8" name="Text 4"/>
          <p:cNvSpPr/>
          <p:nvPr/>
        </p:nvSpPr>
        <p:spPr>
          <a:xfrm>
            <a:off x="6381750" y="2077045"/>
            <a:ext cx="2212975" cy="886420"/>
          </a:xfrm>
          <a:prstGeom prst="roundRect">
            <a:avLst>
              <a:gd name="adj" fmla="val 8596"/>
            </a:avLst>
          </a:prstGeom>
          <a:solidFill>
            <a:srgbClr val="2C5FCF"/>
          </a:solidFill>
          <a:ln/>
        </p:spPr>
        <p:txBody>
          <a:bodyPr wrap="square" lIns="180882" tIns="180882" rIns="126685" bIns="155482" rtlCol="0" anchor="t">
            <a:normAutofit/>
          </a:bodyPr>
          <a:lstStyle/>
          <a:p>
            <a:pPr marL="0" indent="0" algn="l">
              <a:lnSpc>
                <a:spcPts val="1890"/>
              </a:lnSpc>
              <a:buNone/>
            </a:pPr>
            <a:r>
              <a:rPr lang="en-US" sz="1400" b="1" dirty="0">
                <a:solidFill>
                  <a:srgbClr val="F4F2EC"/>
                </a:solidFill>
                <a:latin typeface="IBM Plex Sans" pitchFamily="34" charset="0"/>
                <a:ea typeface="IBM Plex Sans" pitchFamily="34" charset="-122"/>
                <a:cs typeface="IBM Plex Sans" pitchFamily="34" charset="-120"/>
              </a:rPr>
              <a:t>Our dashboard turns the posts into signals</a:t>
            </a:r>
            <a:endParaRPr lang="en-US" sz="1400" dirty="0"/>
          </a:p>
        </p:txBody>
      </p:sp>
      <p:pic>
        <p:nvPicPr>
          <p:cNvPr id="9" name="Image 2" descr="arrow-right"/>
          <p:cNvPicPr>
            <a:picLocks noChangeAspect="1"/>
          </p:cNvPicPr>
          <p:nvPr/>
        </p:nvPicPr>
        <p:blipFill>
          <a:blip r:embed="rId3"/>
          <a:srcRect/>
          <a:stretch/>
        </p:blipFill>
        <p:spPr>
          <a:xfrm>
            <a:off x="8696325" y="2393255"/>
            <a:ext cx="355600" cy="254000"/>
          </a:xfrm>
          <a:prstGeom prst="rect">
            <a:avLst/>
          </a:prstGeom>
        </p:spPr>
      </p:pic>
      <p:sp>
        <p:nvSpPr>
          <p:cNvPr id="10" name="Text 5"/>
          <p:cNvSpPr/>
          <p:nvPr/>
        </p:nvSpPr>
        <p:spPr>
          <a:xfrm>
            <a:off x="9156700" y="1953865"/>
            <a:ext cx="2219325" cy="1132780"/>
          </a:xfrm>
          <a:prstGeom prst="roundRect">
            <a:avLst>
              <a:gd name="adj" fmla="val 6447"/>
            </a:avLst>
          </a:prstGeom>
          <a:solidFill>
            <a:srgbClr val="FBFAF7"/>
          </a:solidFill>
          <a:ln w="6350">
            <a:solidFill>
              <a:srgbClr val="DDD8CC"/>
            </a:solidFill>
            <a:prstDash val="solid"/>
          </a:ln>
        </p:spPr>
        <p:txBody>
          <a:bodyPr wrap="square" lIns="184987" tIns="184987" rIns="130789" bIns="159587" rtlCol="0" anchor="t">
            <a:normAutofit/>
          </a:bodyPr>
          <a:lstStyle/>
          <a:p>
            <a:pPr marL="0" indent="0" algn="l">
              <a:lnSpc>
                <a:spcPts val="1890"/>
              </a:lnSpc>
              <a:buNone/>
            </a:pPr>
            <a:r>
              <a:rPr lang="en-US" sz="1400" dirty="0">
                <a:solidFill>
                  <a:srgbClr val="1E2329"/>
                </a:solidFill>
                <a:latin typeface="IBM Plex Sans" pitchFamily="34" charset="0"/>
                <a:ea typeface="IBM Plex Sans" pitchFamily="34" charset="-122"/>
                <a:cs typeface="IBM Plex Sans" pitchFamily="34" charset="-120"/>
              </a:rPr>
              <a:t>The team checks it and improves the product</a:t>
            </a:r>
            <a:endParaRPr lang="en-US" sz="1400" dirty="0"/>
          </a:p>
        </p:txBody>
      </p:sp>
      <p:sp>
        <p:nvSpPr>
          <p:cNvPr id="11" name="Text 6"/>
          <p:cNvSpPr/>
          <p:nvPr/>
        </p:nvSpPr>
        <p:spPr>
          <a:xfrm>
            <a:off x="812800" y="3394621"/>
            <a:ext cx="34184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329"/>
                </a:solidFill>
                <a:latin typeface="IBM Plex Sans" pitchFamily="34" charset="0"/>
                <a:ea typeface="IBM Plex Sans" pitchFamily="34" charset="-122"/>
                <a:cs typeface="IBM Plex Sans" pitchFamily="34" charset="-120"/>
              </a:rPr>
              <a:t>It really happens</a:t>
            </a:r>
            <a:endParaRPr lang="en-US" sz="1600" dirty="0"/>
          </a:p>
        </p:txBody>
      </p:sp>
      <p:sp>
        <p:nvSpPr>
          <p:cNvPr id="12" name="Text 7"/>
          <p:cNvSpPr/>
          <p:nvPr/>
        </p:nvSpPr>
        <p:spPr>
          <a:xfrm>
            <a:off x="812800" y="3714651"/>
            <a:ext cx="3418484"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OpenAI rolled back a GPT-4o update after lots of negative feedback.</a:t>
            </a:r>
            <a:endParaRPr lang="en-US" sz="1400" dirty="0"/>
          </a:p>
        </p:txBody>
      </p:sp>
      <p:sp>
        <p:nvSpPr>
          <p:cNvPr id="13" name="Text 8"/>
          <p:cNvSpPr/>
          <p:nvPr/>
        </p:nvSpPr>
        <p:spPr>
          <a:xfrm>
            <a:off x="4436517" y="3394621"/>
            <a:ext cx="3418535"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329"/>
                </a:solidFill>
                <a:latin typeface="IBM Plex Sans" pitchFamily="34" charset="0"/>
                <a:ea typeface="IBM Plex Sans" pitchFamily="34" charset="-122"/>
                <a:cs typeface="IBM Plex Sans" pitchFamily="34" charset="-120"/>
              </a:rPr>
              <a:t>Cheap to reuse</a:t>
            </a:r>
            <a:endParaRPr lang="en-US" sz="1600" dirty="0"/>
          </a:p>
        </p:txBody>
      </p:sp>
      <p:sp>
        <p:nvSpPr>
          <p:cNvPr id="14" name="Text 9"/>
          <p:cNvSpPr/>
          <p:nvPr/>
        </p:nvSpPr>
        <p:spPr>
          <a:xfrm>
            <a:off x="4436517" y="3714651"/>
            <a:ext cx="341853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Runs locally, no paid API or subscription, so smaller teams can use it for their own products.</a:t>
            </a:r>
            <a:endParaRPr lang="en-US" sz="1400" dirty="0"/>
          </a:p>
        </p:txBody>
      </p:sp>
      <p:sp>
        <p:nvSpPr>
          <p:cNvPr id="15" name="Text 10"/>
          <p:cNvSpPr/>
          <p:nvPr/>
        </p:nvSpPr>
        <p:spPr>
          <a:xfrm>
            <a:off x="8060283" y="3394621"/>
            <a:ext cx="34184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329"/>
                </a:solidFill>
                <a:latin typeface="IBM Plex Sans" pitchFamily="34" charset="0"/>
                <a:ea typeface="IBM Plex Sans" pitchFamily="34" charset="-122"/>
                <a:cs typeface="IBM Plex Sans" pitchFamily="34" charset="-120"/>
              </a:rPr>
              <a:t>To be honest</a:t>
            </a:r>
            <a:endParaRPr lang="en-US" sz="1600" dirty="0"/>
          </a:p>
        </p:txBody>
      </p:sp>
      <p:sp>
        <p:nvSpPr>
          <p:cNvPr id="16" name="Text 11"/>
          <p:cNvSpPr/>
          <p:nvPr/>
        </p:nvSpPr>
        <p:spPr>
          <a:xfrm>
            <a:off x="8060283" y="3714651"/>
            <a:ext cx="3418484"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Our part is indirect. We help evaluate innovations, we don't prove they get better.</a:t>
            </a:r>
            <a:endParaRPr lang="en-US" sz="1400" dirty="0"/>
          </a:p>
        </p:txBody>
      </p:sp>
      <p:sp>
        <p:nvSpPr>
          <p:cNvPr id="17" name="Text 12"/>
          <p:cNvSpPr/>
          <p:nvPr/>
        </p:nvSpPr>
        <p:spPr>
          <a:xfrm>
            <a:off x="812800" y="6238280"/>
            <a:ext cx="47717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79"/>
                </a:solidFill>
                <a:latin typeface="IBM Plex Sans" pitchFamily="34" charset="0"/>
                <a:ea typeface="IBM Plex Sans" pitchFamily="34" charset="-122"/>
                <a:cs typeface="IBM Plex Sans" pitchFamily="34" charset="-120"/>
              </a:rPr>
              <a:t>Source: OpenAI, “Sycophancy in GPT-4o: what happened”</a:t>
            </a:r>
            <a:endParaRPr lang="en-US" sz="1200" dirty="0"/>
          </a:p>
        </p:txBody>
      </p:sp>
      <p:sp>
        <p:nvSpPr>
          <p:cNvPr id="18" name="Text 13"/>
          <p:cNvSpPr/>
          <p:nvPr/>
        </p:nvSpPr>
        <p:spPr>
          <a:xfrm>
            <a:off x="11236920" y="6238280"/>
            <a:ext cx="142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What we built</a:t>
            </a:r>
            <a:endParaRPr lang="en-US" sz="3200" dirty="0"/>
          </a:p>
        </p:txBody>
      </p:sp>
      <p:sp>
        <p:nvSpPr>
          <p:cNvPr id="3" name="Shape 1"/>
          <p:cNvSpPr/>
          <p:nvPr/>
        </p:nvSpPr>
        <p:spPr>
          <a:xfrm>
            <a:off x="815975" y="1618605"/>
            <a:ext cx="1984970" cy="2348012"/>
          </a:xfrm>
          <a:prstGeom prst="roundRect">
            <a:avLst>
              <a:gd name="adj" fmla="val 3679"/>
            </a:avLst>
          </a:prstGeom>
          <a:solidFill>
            <a:srgbClr val="FBFAF7"/>
          </a:solidFill>
          <a:ln w="6350">
            <a:solidFill>
              <a:srgbClr val="DDD8CC"/>
            </a:solidFill>
            <a:prstDash val="solid"/>
          </a:ln>
        </p:spPr>
        <p:txBody>
          <a:bodyPr/>
          <a:lstStyle/>
          <a:p>
            <a:endParaRPr lang="en-NL"/>
          </a:p>
        </p:txBody>
      </p:sp>
      <p:sp>
        <p:nvSpPr>
          <p:cNvPr id="4" name="Text 2"/>
          <p:cNvSpPr/>
          <p:nvPr/>
        </p:nvSpPr>
        <p:spPr>
          <a:xfrm>
            <a:off x="1022350" y="1824980"/>
            <a:ext cx="16230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5FCF"/>
                </a:solidFill>
                <a:latin typeface="IBM Plex Sans" pitchFamily="34" charset="0"/>
                <a:ea typeface="IBM Plex Sans" pitchFamily="34" charset="-122"/>
                <a:cs typeface="IBM Plex Sans" pitchFamily="34" charset="-120"/>
              </a:rPr>
              <a:t>1</a:t>
            </a:r>
            <a:endParaRPr lang="en-US" sz="1200" dirty="0"/>
          </a:p>
        </p:txBody>
      </p:sp>
      <p:sp>
        <p:nvSpPr>
          <p:cNvPr id="5" name="Text 3"/>
          <p:cNvSpPr/>
          <p:nvPr/>
        </p:nvSpPr>
        <p:spPr>
          <a:xfrm>
            <a:off x="1022350" y="2139900"/>
            <a:ext cx="16230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Fetch</a:t>
            </a:r>
            <a:endParaRPr lang="en-US" sz="1800" dirty="0"/>
          </a:p>
        </p:txBody>
      </p:sp>
      <p:sp>
        <p:nvSpPr>
          <p:cNvPr id="6" name="Text 4"/>
          <p:cNvSpPr/>
          <p:nvPr/>
        </p:nvSpPr>
        <p:spPr>
          <a:xfrm>
            <a:off x="1022350" y="2515791"/>
            <a:ext cx="1623020"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Bluesky, Hacker News and App Store reviews, every 5 minutes</a:t>
            </a:r>
            <a:endParaRPr lang="en-US" sz="1400" dirty="0"/>
          </a:p>
        </p:txBody>
      </p:sp>
      <p:sp>
        <p:nvSpPr>
          <p:cNvPr id="7" name="Shape 5"/>
          <p:cNvSpPr/>
          <p:nvPr/>
        </p:nvSpPr>
        <p:spPr>
          <a:xfrm>
            <a:off x="2959695" y="1618605"/>
            <a:ext cx="1985020" cy="2348012"/>
          </a:xfrm>
          <a:prstGeom prst="roundRect">
            <a:avLst>
              <a:gd name="adj" fmla="val 3679"/>
            </a:avLst>
          </a:prstGeom>
          <a:solidFill>
            <a:srgbClr val="FBFAF7"/>
          </a:solidFill>
          <a:ln w="6350">
            <a:solidFill>
              <a:srgbClr val="DDD8CC"/>
            </a:solidFill>
            <a:prstDash val="solid"/>
          </a:ln>
        </p:spPr>
        <p:txBody>
          <a:bodyPr/>
          <a:lstStyle/>
          <a:p>
            <a:endParaRPr lang="en-NL"/>
          </a:p>
        </p:txBody>
      </p:sp>
      <p:sp>
        <p:nvSpPr>
          <p:cNvPr id="8" name="Text 6"/>
          <p:cNvSpPr/>
          <p:nvPr/>
        </p:nvSpPr>
        <p:spPr>
          <a:xfrm>
            <a:off x="3166070" y="1824980"/>
            <a:ext cx="16230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5FCF"/>
                </a:solidFill>
                <a:latin typeface="IBM Plex Sans" pitchFamily="34" charset="0"/>
                <a:ea typeface="IBM Plex Sans" pitchFamily="34" charset="-122"/>
                <a:cs typeface="IBM Plex Sans" pitchFamily="34" charset="-120"/>
              </a:rPr>
              <a:t>2</a:t>
            </a:r>
            <a:endParaRPr lang="en-US" sz="1200" dirty="0"/>
          </a:p>
        </p:txBody>
      </p:sp>
      <p:sp>
        <p:nvSpPr>
          <p:cNvPr id="9" name="Text 7"/>
          <p:cNvSpPr/>
          <p:nvPr/>
        </p:nvSpPr>
        <p:spPr>
          <a:xfrm>
            <a:off x="3166070" y="2139900"/>
            <a:ext cx="16230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Filter</a:t>
            </a:r>
            <a:endParaRPr lang="en-US" sz="1800" dirty="0"/>
          </a:p>
        </p:txBody>
      </p:sp>
      <p:sp>
        <p:nvSpPr>
          <p:cNvPr id="10" name="Text 8"/>
          <p:cNvSpPr/>
          <p:nvPr/>
        </p:nvSpPr>
        <p:spPr>
          <a:xfrm>
            <a:off x="3166070" y="2515791"/>
            <a:ext cx="1623070" cy="126985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Keyword rules sort posts per assistant. Posts naming more than one go to “Comparisons”</a:t>
            </a:r>
            <a:endParaRPr lang="en-US" sz="1400" dirty="0"/>
          </a:p>
        </p:txBody>
      </p:sp>
      <p:sp>
        <p:nvSpPr>
          <p:cNvPr id="11" name="Shape 9"/>
          <p:cNvSpPr/>
          <p:nvPr/>
        </p:nvSpPr>
        <p:spPr>
          <a:xfrm>
            <a:off x="5103465" y="1618605"/>
            <a:ext cx="1985020" cy="2348012"/>
          </a:xfrm>
          <a:prstGeom prst="roundRect">
            <a:avLst>
              <a:gd name="adj" fmla="val 3679"/>
            </a:avLst>
          </a:prstGeom>
          <a:solidFill>
            <a:srgbClr val="FBFAF7"/>
          </a:solidFill>
          <a:ln w="6350">
            <a:solidFill>
              <a:srgbClr val="DDD8CC"/>
            </a:solidFill>
            <a:prstDash val="solid"/>
          </a:ln>
        </p:spPr>
        <p:txBody>
          <a:bodyPr/>
          <a:lstStyle/>
          <a:p>
            <a:endParaRPr lang="en-NL"/>
          </a:p>
        </p:txBody>
      </p:sp>
      <p:sp>
        <p:nvSpPr>
          <p:cNvPr id="12" name="Text 10"/>
          <p:cNvSpPr/>
          <p:nvPr/>
        </p:nvSpPr>
        <p:spPr>
          <a:xfrm>
            <a:off x="5309840" y="1824980"/>
            <a:ext cx="16230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5FCF"/>
                </a:solidFill>
                <a:latin typeface="IBM Plex Sans" pitchFamily="34" charset="0"/>
                <a:ea typeface="IBM Plex Sans" pitchFamily="34" charset="-122"/>
                <a:cs typeface="IBM Plex Sans" pitchFamily="34" charset="-120"/>
              </a:rPr>
              <a:t>3</a:t>
            </a:r>
            <a:endParaRPr lang="en-US" sz="1200" dirty="0"/>
          </a:p>
        </p:txBody>
      </p:sp>
      <p:sp>
        <p:nvSpPr>
          <p:cNvPr id="13" name="Text 11"/>
          <p:cNvSpPr/>
          <p:nvPr/>
        </p:nvSpPr>
        <p:spPr>
          <a:xfrm>
            <a:off x="5309840" y="2139900"/>
            <a:ext cx="16230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Label</a:t>
            </a:r>
            <a:endParaRPr lang="en-US" sz="1800" dirty="0"/>
          </a:p>
        </p:txBody>
      </p:sp>
      <p:sp>
        <p:nvSpPr>
          <p:cNvPr id="14" name="Text 12"/>
          <p:cNvSpPr/>
          <p:nvPr/>
        </p:nvSpPr>
        <p:spPr>
          <a:xfrm>
            <a:off x="5309840" y="2515791"/>
            <a:ext cx="1623070"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The transformer says positive, neutral or negative</a:t>
            </a:r>
            <a:endParaRPr lang="en-US" sz="1400" dirty="0"/>
          </a:p>
        </p:txBody>
      </p:sp>
      <p:sp>
        <p:nvSpPr>
          <p:cNvPr id="15" name="Shape 13"/>
          <p:cNvSpPr/>
          <p:nvPr/>
        </p:nvSpPr>
        <p:spPr>
          <a:xfrm>
            <a:off x="7247235" y="1618605"/>
            <a:ext cx="1985020" cy="2348012"/>
          </a:xfrm>
          <a:prstGeom prst="roundRect">
            <a:avLst>
              <a:gd name="adj" fmla="val 3679"/>
            </a:avLst>
          </a:prstGeom>
          <a:solidFill>
            <a:srgbClr val="FBFAF7"/>
          </a:solidFill>
          <a:ln w="6350">
            <a:solidFill>
              <a:srgbClr val="DDD8CC"/>
            </a:solidFill>
            <a:prstDash val="solid"/>
          </a:ln>
        </p:spPr>
        <p:txBody>
          <a:bodyPr/>
          <a:lstStyle/>
          <a:p>
            <a:endParaRPr lang="en-NL"/>
          </a:p>
        </p:txBody>
      </p:sp>
      <p:sp>
        <p:nvSpPr>
          <p:cNvPr id="16" name="Text 14"/>
          <p:cNvSpPr/>
          <p:nvPr/>
        </p:nvSpPr>
        <p:spPr>
          <a:xfrm>
            <a:off x="7453610" y="1824980"/>
            <a:ext cx="16230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5FCF"/>
                </a:solidFill>
                <a:latin typeface="IBM Plex Sans" pitchFamily="34" charset="0"/>
                <a:ea typeface="IBM Plex Sans" pitchFamily="34" charset="-122"/>
                <a:cs typeface="IBM Plex Sans" pitchFamily="34" charset="-120"/>
              </a:rPr>
              <a:t>4</a:t>
            </a:r>
            <a:endParaRPr lang="en-US" sz="1200" dirty="0"/>
          </a:p>
        </p:txBody>
      </p:sp>
      <p:sp>
        <p:nvSpPr>
          <p:cNvPr id="17" name="Text 15"/>
          <p:cNvSpPr/>
          <p:nvPr/>
        </p:nvSpPr>
        <p:spPr>
          <a:xfrm>
            <a:off x="7453610" y="2139900"/>
            <a:ext cx="16230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Store</a:t>
            </a:r>
            <a:endParaRPr lang="en-US" sz="1800" dirty="0"/>
          </a:p>
        </p:txBody>
      </p:sp>
      <p:sp>
        <p:nvSpPr>
          <p:cNvPr id="18" name="Text 16"/>
          <p:cNvSpPr/>
          <p:nvPr/>
        </p:nvSpPr>
        <p:spPr>
          <a:xfrm>
            <a:off x="7453610" y="2515791"/>
            <a:ext cx="1623070"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Everything goes into SQLite, no duplicate posts</a:t>
            </a:r>
            <a:endParaRPr lang="en-US" sz="1400" dirty="0"/>
          </a:p>
        </p:txBody>
      </p:sp>
      <p:sp>
        <p:nvSpPr>
          <p:cNvPr id="19" name="Shape 17"/>
          <p:cNvSpPr/>
          <p:nvPr/>
        </p:nvSpPr>
        <p:spPr>
          <a:xfrm>
            <a:off x="9391005" y="1618605"/>
            <a:ext cx="1985020" cy="2348012"/>
          </a:xfrm>
          <a:prstGeom prst="roundRect">
            <a:avLst>
              <a:gd name="adj" fmla="val 3679"/>
            </a:avLst>
          </a:prstGeom>
          <a:solidFill>
            <a:srgbClr val="FBFAF7"/>
          </a:solidFill>
          <a:ln w="6350">
            <a:solidFill>
              <a:srgbClr val="DDD8CC"/>
            </a:solidFill>
            <a:prstDash val="solid"/>
          </a:ln>
        </p:spPr>
        <p:txBody>
          <a:bodyPr/>
          <a:lstStyle/>
          <a:p>
            <a:endParaRPr lang="en-NL"/>
          </a:p>
        </p:txBody>
      </p:sp>
      <p:sp>
        <p:nvSpPr>
          <p:cNvPr id="20" name="Text 18"/>
          <p:cNvSpPr/>
          <p:nvPr/>
        </p:nvSpPr>
        <p:spPr>
          <a:xfrm>
            <a:off x="9597380" y="1824980"/>
            <a:ext cx="162307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C5FCF"/>
                </a:solidFill>
                <a:latin typeface="IBM Plex Sans" pitchFamily="34" charset="0"/>
                <a:ea typeface="IBM Plex Sans" pitchFamily="34" charset="-122"/>
                <a:cs typeface="IBM Plex Sans" pitchFamily="34" charset="-120"/>
              </a:rPr>
              <a:t>5</a:t>
            </a:r>
            <a:endParaRPr lang="en-US" sz="1200" dirty="0"/>
          </a:p>
        </p:txBody>
      </p:sp>
      <p:sp>
        <p:nvSpPr>
          <p:cNvPr id="21" name="Text 19"/>
          <p:cNvSpPr/>
          <p:nvPr/>
        </p:nvSpPr>
        <p:spPr>
          <a:xfrm>
            <a:off x="9597380" y="2139900"/>
            <a:ext cx="162307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Show</a:t>
            </a:r>
            <a:endParaRPr lang="en-US" sz="1800" dirty="0"/>
          </a:p>
        </p:txBody>
      </p:sp>
      <p:sp>
        <p:nvSpPr>
          <p:cNvPr id="22" name="Text 20"/>
          <p:cNvSpPr/>
          <p:nvPr/>
        </p:nvSpPr>
        <p:spPr>
          <a:xfrm>
            <a:off x="9597380" y="2515791"/>
            <a:ext cx="1623070"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Streamlit dashboard, refreshes about every 15 seconds</a:t>
            </a:r>
            <a:endParaRPr lang="en-US" sz="1400" dirty="0"/>
          </a:p>
        </p:txBody>
      </p:sp>
      <p:sp>
        <p:nvSpPr>
          <p:cNvPr id="23" name="Text 21"/>
          <p:cNvSpPr/>
          <p:nvPr/>
        </p:nvSpPr>
        <p:spPr>
          <a:xfrm>
            <a:off x="812800" y="4325392"/>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The model we used:</a:t>
            </a:r>
            <a:endParaRPr lang="en-US" sz="1400" dirty="0"/>
          </a:p>
        </p:txBody>
      </p:sp>
      <p:sp>
        <p:nvSpPr>
          <p:cNvPr id="24" name="Text 22"/>
          <p:cNvSpPr/>
          <p:nvPr/>
        </p:nvSpPr>
        <p:spPr>
          <a:xfrm>
            <a:off x="812800" y="465048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2329"/>
                </a:solidFill>
                <a:latin typeface="IBM Plex Mono" pitchFamily="49" charset="0"/>
                <a:ea typeface="IBM Plex Mono" pitchFamily="49" charset="-122"/>
                <a:cs typeface="IBM Plex Mono" pitchFamily="49" charset="-120"/>
              </a:rPr>
              <a:t>cardiffnlp/twitter-xlm-roberta-base-sentiment</a:t>
            </a:r>
            <a:endParaRPr lang="en-US" sz="1600" dirty="0"/>
          </a:p>
        </p:txBody>
      </p:sp>
      <p:sp>
        <p:nvSpPr>
          <p:cNvPr id="25" name="Text 23"/>
          <p:cNvSpPr/>
          <p:nvPr/>
        </p:nvSpPr>
        <p:spPr>
          <a:xfrm>
            <a:off x="812800" y="5011142"/>
            <a:ext cx="98107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Trained on about 198 million tweets, works in 8 languages. Good fit for short, sassy Bluesky posts.</a:t>
            </a:r>
            <a:endParaRPr lang="en-US" sz="1400" dirty="0"/>
          </a:p>
        </p:txBody>
      </p:sp>
      <p:sp>
        <p:nvSpPr>
          <p:cNvPr id="26" name="Text 24"/>
          <p:cNvSpPr/>
          <p:nvPr/>
        </p:nvSpPr>
        <p:spPr>
          <a:xfrm>
            <a:off x="11236920" y="6238280"/>
            <a:ext cx="142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The live chart</a:t>
            </a:r>
            <a:endParaRPr lang="en-US" sz="3200" dirty="0"/>
          </a:p>
        </p:txBody>
      </p:sp>
      <p:sp>
        <p:nvSpPr>
          <p:cNvPr id="4" name="Text 2"/>
          <p:cNvSpPr/>
          <p:nvPr/>
        </p:nvSpPr>
        <p:spPr>
          <a:xfrm>
            <a:off x="913753" y="2333268"/>
            <a:ext cx="332257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How to read it</a:t>
            </a:r>
            <a:endParaRPr lang="en-US" sz="1800" dirty="0"/>
          </a:p>
        </p:txBody>
      </p:sp>
      <p:pic>
        <p:nvPicPr>
          <p:cNvPr id="5" name="Image 0" descr="rect"/>
          <p:cNvPicPr>
            <a:picLocks noChangeAspect="1"/>
          </p:cNvPicPr>
          <p:nvPr/>
        </p:nvPicPr>
        <p:blipFill>
          <a:blip r:embed="rId3"/>
          <a:srcRect/>
          <a:stretch/>
        </p:blipFill>
        <p:spPr>
          <a:xfrm>
            <a:off x="913753" y="2988156"/>
            <a:ext cx="203200" cy="203200"/>
          </a:xfrm>
          <a:prstGeom prst="rect">
            <a:avLst/>
          </a:prstGeom>
        </p:spPr>
      </p:pic>
      <p:sp>
        <p:nvSpPr>
          <p:cNvPr id="6" name="Text 3"/>
          <p:cNvSpPr/>
          <p:nvPr/>
        </p:nvSpPr>
        <p:spPr>
          <a:xfrm>
            <a:off x="1218553" y="2965335"/>
            <a:ext cx="750391"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E2329"/>
                </a:solidFill>
                <a:latin typeface="IBM Plex Sans" pitchFamily="34" charset="0"/>
                <a:ea typeface="IBM Plex Sans" pitchFamily="34" charset="-122"/>
                <a:cs typeface="IBM Plex Sans" pitchFamily="34" charset="-120"/>
              </a:rPr>
              <a:t>Positive</a:t>
            </a:r>
            <a:endParaRPr lang="en-US" sz="1400" dirty="0"/>
          </a:p>
        </p:txBody>
      </p:sp>
      <p:pic>
        <p:nvPicPr>
          <p:cNvPr id="7" name="Image 1" descr="rect"/>
          <p:cNvPicPr>
            <a:picLocks noChangeAspect="1"/>
          </p:cNvPicPr>
          <p:nvPr/>
        </p:nvPicPr>
        <p:blipFill>
          <a:blip r:embed="rId4"/>
          <a:srcRect/>
          <a:stretch/>
        </p:blipFill>
        <p:spPr>
          <a:xfrm>
            <a:off x="913753" y="3414846"/>
            <a:ext cx="203200" cy="203200"/>
          </a:xfrm>
          <a:prstGeom prst="rect">
            <a:avLst/>
          </a:prstGeom>
        </p:spPr>
      </p:pic>
      <p:sp>
        <p:nvSpPr>
          <p:cNvPr id="8" name="Text 4"/>
          <p:cNvSpPr/>
          <p:nvPr/>
        </p:nvSpPr>
        <p:spPr>
          <a:xfrm>
            <a:off x="1218553" y="3392026"/>
            <a:ext cx="71348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E2329"/>
                </a:solidFill>
                <a:latin typeface="IBM Plex Sans" pitchFamily="34" charset="0"/>
                <a:ea typeface="IBM Plex Sans" pitchFamily="34" charset="-122"/>
                <a:cs typeface="IBM Plex Sans" pitchFamily="34" charset="-120"/>
              </a:rPr>
              <a:t>Neutral</a:t>
            </a:r>
            <a:endParaRPr lang="en-US" sz="1400" dirty="0"/>
          </a:p>
        </p:txBody>
      </p:sp>
      <p:pic>
        <p:nvPicPr>
          <p:cNvPr id="9" name="Image 2" descr="rect"/>
          <p:cNvPicPr>
            <a:picLocks noChangeAspect="1"/>
          </p:cNvPicPr>
          <p:nvPr/>
        </p:nvPicPr>
        <p:blipFill>
          <a:blip r:embed="rId5"/>
          <a:srcRect/>
          <a:stretch/>
        </p:blipFill>
        <p:spPr>
          <a:xfrm>
            <a:off x="913753" y="3841536"/>
            <a:ext cx="203200" cy="203200"/>
          </a:xfrm>
          <a:prstGeom prst="rect">
            <a:avLst/>
          </a:prstGeom>
        </p:spPr>
      </p:pic>
      <p:sp>
        <p:nvSpPr>
          <p:cNvPr id="10" name="Text 5"/>
          <p:cNvSpPr/>
          <p:nvPr/>
        </p:nvSpPr>
        <p:spPr>
          <a:xfrm>
            <a:off x="1218553" y="3818716"/>
            <a:ext cx="842605"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E2329"/>
                </a:solidFill>
                <a:latin typeface="IBM Plex Sans" pitchFamily="34" charset="0"/>
                <a:ea typeface="IBM Plex Sans" pitchFamily="34" charset="-122"/>
                <a:cs typeface="IBM Plex Sans" pitchFamily="34" charset="-120"/>
              </a:rPr>
              <a:t>Negative</a:t>
            </a:r>
            <a:endParaRPr lang="en-US" sz="1400" dirty="0"/>
          </a:p>
        </p:txBody>
      </p:sp>
      <p:sp>
        <p:nvSpPr>
          <p:cNvPr id="12" name="Text 6"/>
          <p:cNvSpPr/>
          <p:nvPr/>
        </p:nvSpPr>
        <p:spPr>
          <a:xfrm>
            <a:off x="812800" y="5064820"/>
            <a:ext cx="332257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Group by hour or by day</a:t>
            </a:r>
            <a:endParaRPr lang="en-US" sz="1400" dirty="0"/>
          </a:p>
        </p:txBody>
      </p:sp>
      <p:sp>
        <p:nvSpPr>
          <p:cNvPr id="13" name="Text 7"/>
          <p:cNvSpPr/>
          <p:nvPr/>
        </p:nvSpPr>
        <p:spPr>
          <a:xfrm>
            <a:off x="817784" y="5514405"/>
            <a:ext cx="387096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Switch between counts and percentages</a:t>
            </a:r>
            <a:endParaRPr lang="en-US" sz="1400" dirty="0"/>
          </a:p>
        </p:txBody>
      </p:sp>
      <p:sp>
        <p:nvSpPr>
          <p:cNvPr id="14" name="Text 8"/>
          <p:cNvSpPr/>
          <p:nvPr/>
        </p:nvSpPr>
        <p:spPr>
          <a:xfrm>
            <a:off x="812800" y="5963990"/>
            <a:ext cx="332257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Times in Amsterdam time</a:t>
            </a:r>
            <a:endParaRPr lang="en-US" sz="1400" dirty="0"/>
          </a:p>
        </p:txBody>
      </p:sp>
      <p:sp>
        <p:nvSpPr>
          <p:cNvPr id="15" name="Text 9"/>
          <p:cNvSpPr/>
          <p:nvPr/>
        </p:nvSpPr>
        <p:spPr>
          <a:xfrm>
            <a:off x="11236920" y="6238280"/>
            <a:ext cx="142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6</a:t>
            </a:r>
            <a:endParaRPr lang="en-US" sz="1200" dirty="0"/>
          </a:p>
        </p:txBody>
      </p:sp>
      <p:pic>
        <p:nvPicPr>
          <p:cNvPr id="19" name="Picture 18">
            <a:extLst>
              <a:ext uri="{FF2B5EF4-FFF2-40B4-BE49-F238E27FC236}">
                <a16:creationId xmlns:a16="http://schemas.microsoft.com/office/drawing/2014/main" id="{ED2D53D5-065D-FB2D-012D-E970B6369AFC}"/>
              </a:ext>
            </a:extLst>
          </p:cNvPr>
          <p:cNvPicPr>
            <a:picLocks noChangeAspect="1"/>
          </p:cNvPicPr>
          <p:nvPr/>
        </p:nvPicPr>
        <p:blipFill>
          <a:blip r:embed="rId6"/>
          <a:stretch>
            <a:fillRect/>
          </a:stretch>
        </p:blipFill>
        <p:spPr>
          <a:xfrm>
            <a:off x="3688346" y="1127390"/>
            <a:ext cx="8109446" cy="40952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Why did the model say that?</a:t>
            </a:r>
            <a:endParaRPr lang="en-US" sz="3200" dirty="0"/>
          </a:p>
        </p:txBody>
      </p:sp>
      <p:sp>
        <p:nvSpPr>
          <p:cNvPr id="3" name="Shape 1"/>
          <p:cNvSpPr/>
          <p:nvPr/>
        </p:nvSpPr>
        <p:spPr>
          <a:xfrm>
            <a:off x="815975" y="1618605"/>
            <a:ext cx="3380284" cy="1885801"/>
          </a:xfrm>
          <a:prstGeom prst="roundRect">
            <a:avLst>
              <a:gd name="adj" fmla="val 3872"/>
            </a:avLst>
          </a:prstGeom>
          <a:solidFill>
            <a:srgbClr val="FBFAF7"/>
          </a:solidFill>
          <a:ln w="6350">
            <a:solidFill>
              <a:srgbClr val="DDD8CC"/>
            </a:solidFill>
            <a:prstDash val="solid"/>
          </a:ln>
        </p:spPr>
        <p:txBody>
          <a:bodyPr/>
          <a:lstStyle/>
          <a:p>
            <a:endParaRPr lang="en-NL"/>
          </a:p>
        </p:txBody>
      </p:sp>
      <p:sp>
        <p:nvSpPr>
          <p:cNvPr id="4" name="Text 2"/>
          <p:cNvSpPr/>
          <p:nvPr/>
        </p:nvSpPr>
        <p:spPr>
          <a:xfrm>
            <a:off x="1073150" y="1875780"/>
            <a:ext cx="2951912"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Common words</a:t>
            </a:r>
            <a:endParaRPr lang="en-US" sz="1800" dirty="0"/>
          </a:p>
        </p:txBody>
      </p:sp>
      <p:sp>
        <p:nvSpPr>
          <p:cNvPr id="5" name="Text 3"/>
          <p:cNvSpPr/>
          <p:nvPr/>
        </p:nvSpPr>
        <p:spPr>
          <a:xfrm>
            <a:off x="1073150" y="2251670"/>
            <a:ext cx="2951912"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Integrated Gradients (Captum) finds up to 5 words per post that pushed the label. We count them in a positive and a negative list.</a:t>
            </a:r>
            <a:endParaRPr lang="en-US" sz="1400" dirty="0"/>
          </a:p>
        </p:txBody>
      </p:sp>
      <p:sp>
        <p:nvSpPr>
          <p:cNvPr id="6" name="Shape 4"/>
          <p:cNvSpPr/>
          <p:nvPr/>
        </p:nvSpPr>
        <p:spPr>
          <a:xfrm>
            <a:off x="4405809" y="1618605"/>
            <a:ext cx="3380333" cy="1885801"/>
          </a:xfrm>
          <a:prstGeom prst="roundRect">
            <a:avLst>
              <a:gd name="adj" fmla="val 3872"/>
            </a:avLst>
          </a:prstGeom>
          <a:solidFill>
            <a:srgbClr val="FBFAF7"/>
          </a:solidFill>
          <a:ln w="6350">
            <a:solidFill>
              <a:srgbClr val="DDD8CC"/>
            </a:solidFill>
            <a:prstDash val="solid"/>
          </a:ln>
        </p:spPr>
        <p:txBody>
          <a:bodyPr/>
          <a:lstStyle/>
          <a:p>
            <a:endParaRPr lang="en-NL"/>
          </a:p>
        </p:txBody>
      </p:sp>
      <p:sp>
        <p:nvSpPr>
          <p:cNvPr id="7" name="Text 5"/>
          <p:cNvSpPr/>
          <p:nvPr/>
        </p:nvSpPr>
        <p:spPr>
          <a:xfrm>
            <a:off x="4662984"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Sentiment filter</a:t>
            </a:r>
            <a:endParaRPr lang="en-US" sz="1800" dirty="0"/>
          </a:p>
        </p:txBody>
      </p:sp>
      <p:sp>
        <p:nvSpPr>
          <p:cNvPr id="8" name="Text 6"/>
          <p:cNvSpPr/>
          <p:nvPr/>
        </p:nvSpPr>
        <p:spPr>
          <a:xfrm>
            <a:off x="4662984" y="2251670"/>
            <a:ext cx="295196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The VADER word list picks out the clearly positive or negative words from those lists.</a:t>
            </a:r>
            <a:endParaRPr lang="en-US" sz="1400" dirty="0"/>
          </a:p>
        </p:txBody>
      </p:sp>
      <p:sp>
        <p:nvSpPr>
          <p:cNvPr id="9" name="Shape 7"/>
          <p:cNvSpPr/>
          <p:nvPr/>
        </p:nvSpPr>
        <p:spPr>
          <a:xfrm>
            <a:off x="7995692" y="1618605"/>
            <a:ext cx="3380333" cy="1885801"/>
          </a:xfrm>
          <a:prstGeom prst="roundRect">
            <a:avLst>
              <a:gd name="adj" fmla="val 3872"/>
            </a:avLst>
          </a:prstGeom>
          <a:solidFill>
            <a:srgbClr val="FBFAF7"/>
          </a:solidFill>
          <a:ln w="6350">
            <a:solidFill>
              <a:srgbClr val="DDD8CC"/>
            </a:solidFill>
            <a:prstDash val="solid"/>
          </a:ln>
        </p:spPr>
        <p:txBody>
          <a:bodyPr/>
          <a:lstStyle/>
          <a:p>
            <a:endParaRPr lang="en-NL"/>
          </a:p>
        </p:txBody>
      </p:sp>
      <p:sp>
        <p:nvSpPr>
          <p:cNvPr id="10" name="Text 8"/>
          <p:cNvSpPr/>
          <p:nvPr/>
        </p:nvSpPr>
        <p:spPr>
          <a:xfrm>
            <a:off x="8252867" y="1875780"/>
            <a:ext cx="295196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2329"/>
                </a:solidFill>
                <a:latin typeface="IBM Plex Sans" pitchFamily="34" charset="0"/>
                <a:ea typeface="IBM Plex Sans" pitchFamily="34" charset="-122"/>
                <a:cs typeface="IBM Plex Sans" pitchFamily="34" charset="-120"/>
              </a:rPr>
              <a:t>One post at a time</a:t>
            </a:r>
            <a:endParaRPr lang="en-US" sz="1800" dirty="0"/>
          </a:p>
        </p:txBody>
      </p:sp>
      <p:sp>
        <p:nvSpPr>
          <p:cNvPr id="11" name="Text 9"/>
          <p:cNvSpPr/>
          <p:nvPr/>
        </p:nvSpPr>
        <p:spPr>
          <a:xfrm>
            <a:off x="8252867" y="2251670"/>
            <a:ext cx="2951963"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Pick a post and see the words that </a:t>
            </a:r>
            <a:r>
              <a:rPr lang="en-US" sz="1400" b="1" dirty="0">
                <a:solidFill>
                  <a:srgbClr val="2C5FCF"/>
                </a:solidFill>
                <a:latin typeface="IBM Plex Sans" pitchFamily="34" charset="0"/>
                <a:ea typeface="IBM Plex Sans" pitchFamily="34" charset="-122"/>
                <a:cs typeface="IBM Plex Sans" pitchFamily="34" charset="-120"/>
              </a:rPr>
              <a:t>support</a:t>
            </a:r>
            <a:r>
              <a:rPr lang="en-US" sz="1400" dirty="0">
                <a:solidFill>
                  <a:srgbClr val="4A525A"/>
                </a:solidFill>
                <a:latin typeface="IBM Plex Sans" pitchFamily="34" charset="0"/>
                <a:ea typeface="IBM Plex Sans" pitchFamily="34" charset="-122"/>
                <a:cs typeface="IBM Plex Sans" pitchFamily="34" charset="-120"/>
              </a:rPr>
              <a:t> the label in blue and the ones that </a:t>
            </a:r>
            <a:r>
              <a:rPr lang="en-US" sz="1400" b="1" dirty="0">
                <a:solidFill>
                  <a:srgbClr val="C45A1C"/>
                </a:solidFill>
                <a:latin typeface="IBM Plex Sans" pitchFamily="34" charset="0"/>
                <a:ea typeface="IBM Plex Sans" pitchFamily="34" charset="-122"/>
                <a:cs typeface="IBM Plex Sans" pitchFamily="34" charset="-120"/>
              </a:rPr>
              <a:t>go against</a:t>
            </a:r>
            <a:r>
              <a:rPr lang="en-US" sz="1400" dirty="0">
                <a:solidFill>
                  <a:srgbClr val="4A525A"/>
                </a:solidFill>
                <a:latin typeface="IBM Plex Sans" pitchFamily="34" charset="0"/>
                <a:ea typeface="IBM Plex Sans" pitchFamily="34" charset="-122"/>
                <a:cs typeface="IBM Plex Sans" pitchFamily="34" charset="-120"/>
              </a:rPr>
              <a:t> it in orange.</a:t>
            </a:r>
            <a:endParaRPr lang="en-US" sz="1400" dirty="0"/>
          </a:p>
        </p:txBody>
      </p:sp>
      <p:sp>
        <p:nvSpPr>
          <p:cNvPr id="12" name="Text 10"/>
          <p:cNvSpPr/>
          <p:nvPr/>
        </p:nvSpPr>
        <p:spPr>
          <a:xfrm>
            <a:off x="812800" y="3863181"/>
            <a:ext cx="10137775"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2329"/>
                </a:solidFill>
                <a:latin typeface="IBM Plex Sans" pitchFamily="34" charset="0"/>
                <a:ea typeface="IBM Plex Sans" pitchFamily="34" charset="-122"/>
                <a:cs typeface="IBM Plex Sans" pitchFamily="34" charset="-120"/>
              </a:rPr>
              <a:t>Why it helps Elon: if a word like </a:t>
            </a:r>
            <a:r>
              <a:rPr lang="en-US" sz="1600" b="1" dirty="0">
                <a:solidFill>
                  <a:srgbClr val="1E2329"/>
                </a:solidFill>
                <a:latin typeface="IBM Plex Sans" pitchFamily="34" charset="0"/>
                <a:ea typeface="IBM Plex Sans" pitchFamily="34" charset="-122"/>
                <a:cs typeface="IBM Plex Sans" pitchFamily="34" charset="-120"/>
              </a:rPr>
              <a:t>“suing”</a:t>
            </a:r>
            <a:r>
              <a:rPr lang="en-US" sz="1600" dirty="0">
                <a:solidFill>
                  <a:srgbClr val="1E2329"/>
                </a:solidFill>
                <a:latin typeface="IBM Plex Sans" pitchFamily="34" charset="0"/>
                <a:ea typeface="IBM Plex Sans" pitchFamily="34" charset="-122"/>
                <a:cs typeface="IBM Plex Sans" pitchFamily="34" charset="-120"/>
              </a:rPr>
              <a:t> suddenly shows up a lot, that could point to how to address the media and look into changes to prevent more lawsuits from happening.</a:t>
            </a:r>
            <a:endParaRPr lang="en-US" sz="1600" dirty="0"/>
          </a:p>
        </p:txBody>
      </p:sp>
      <p:sp>
        <p:nvSpPr>
          <p:cNvPr id="13" name="Text 11"/>
          <p:cNvSpPr/>
          <p:nvPr/>
        </p:nvSpPr>
        <p:spPr>
          <a:xfrm>
            <a:off x="812800" y="6238280"/>
            <a:ext cx="4107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279"/>
                </a:solidFill>
                <a:latin typeface="IBM Plex Sans" pitchFamily="34" charset="0"/>
                <a:ea typeface="IBM Plex Sans" pitchFamily="34" charset="-122"/>
                <a:cs typeface="IBM Plex Sans" pitchFamily="34" charset="-120"/>
              </a:rPr>
              <a:t>These are estimates, not proof that a label is right.</a:t>
            </a:r>
            <a:endParaRPr lang="en-US" sz="1200" dirty="0"/>
          </a:p>
        </p:txBody>
      </p:sp>
      <p:sp>
        <p:nvSpPr>
          <p:cNvPr id="14" name="Text 12"/>
          <p:cNvSpPr/>
          <p:nvPr/>
        </p:nvSpPr>
        <p:spPr>
          <a:xfrm>
            <a:off x="11236920" y="6238280"/>
            <a:ext cx="142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Testing: 74 posts we labelled ourselves</a:t>
            </a:r>
            <a:endParaRPr lang="en-US" sz="3200" dirty="0"/>
          </a:p>
        </p:txBody>
      </p:sp>
      <p:sp>
        <p:nvSpPr>
          <p:cNvPr id="3" name="Text 1"/>
          <p:cNvSpPr/>
          <p:nvPr/>
        </p:nvSpPr>
        <p:spPr>
          <a:xfrm>
            <a:off x="812800" y="13614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30 negative, 26 neutral, 18 positive. Then we checked how often each method agreed with us.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27820"/>
          <a:ext cx="10553700" cy="2565400"/>
        </p:xfrm>
        <a:graphic>
          <a:graphicData uri="http://schemas.openxmlformats.org/drawingml/2006/table">
            <a:tbl>
              <a:tblPr/>
              <a:tblGrid>
                <a:gridCol w="1758950">
                  <a:extLst>
                    <a:ext uri="{9D8B030D-6E8A-4147-A177-3AD203B41FA5}">
                      <a16:colId xmlns:a16="http://schemas.microsoft.com/office/drawing/2014/main" val="20000"/>
                    </a:ext>
                  </a:extLst>
                </a:gridCol>
                <a:gridCol w="1758950">
                  <a:extLst>
                    <a:ext uri="{9D8B030D-6E8A-4147-A177-3AD203B41FA5}">
                      <a16:colId xmlns:a16="http://schemas.microsoft.com/office/drawing/2014/main" val="20001"/>
                    </a:ext>
                  </a:extLst>
                </a:gridCol>
                <a:gridCol w="1758950">
                  <a:extLst>
                    <a:ext uri="{9D8B030D-6E8A-4147-A177-3AD203B41FA5}">
                      <a16:colId xmlns:a16="http://schemas.microsoft.com/office/drawing/2014/main" val="20002"/>
                    </a:ext>
                  </a:extLst>
                </a:gridCol>
                <a:gridCol w="1758950">
                  <a:extLst>
                    <a:ext uri="{9D8B030D-6E8A-4147-A177-3AD203B41FA5}">
                      <a16:colId xmlns:a16="http://schemas.microsoft.com/office/drawing/2014/main" val="20003"/>
                    </a:ext>
                  </a:extLst>
                </a:gridCol>
                <a:gridCol w="1758950">
                  <a:extLst>
                    <a:ext uri="{9D8B030D-6E8A-4147-A177-3AD203B41FA5}">
                      <a16:colId xmlns:a16="http://schemas.microsoft.com/office/drawing/2014/main" val="20004"/>
                    </a:ext>
                  </a:extLst>
                </a:gridCol>
                <a:gridCol w="1758950">
                  <a:extLst>
                    <a:ext uri="{9D8B030D-6E8A-4147-A177-3AD203B41FA5}">
                      <a16:colId xmlns:a16="http://schemas.microsoft.com/office/drawing/2014/main" val="20005"/>
                    </a:ext>
                  </a:extLst>
                </a:gridCol>
              </a:tblGrid>
              <a:tr h="508000">
                <a:tc>
                  <a:txBody>
                    <a:bodyPr/>
                    <a:lstStyle/>
                    <a:p>
                      <a:pPr marL="0" indent="0">
                        <a:lnSpc>
                          <a:spcPts val="2100"/>
                        </a:lnSpc>
                        <a:buNone/>
                      </a:pPr>
                      <a:r>
                        <a:rPr lang="en-US" sz="1500" b="1" dirty="0">
                          <a:solidFill>
                            <a:srgbClr val="1E2329"/>
                          </a:solidFill>
                          <a:latin typeface="IBM Plex Sans" pitchFamily="34" charset="0"/>
                          <a:ea typeface="IBM Plex Sans" pitchFamily="34" charset="-122"/>
                          <a:cs typeface="IBM Plex Sans" pitchFamily="34" charset="-120"/>
                        </a:rPr>
                        <a:t>Method</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2100"/>
                        </a:lnSpc>
                        <a:buNone/>
                      </a:pPr>
                      <a:r>
                        <a:rPr lang="en-US" sz="1500" b="1" dirty="0">
                          <a:solidFill>
                            <a:srgbClr val="1E2329"/>
                          </a:solidFill>
                          <a:latin typeface="IBM Plex Sans" pitchFamily="34" charset="0"/>
                          <a:ea typeface="IBM Plex Sans" pitchFamily="34" charset="-122"/>
                          <a:cs typeface="IBM Plex Sans" pitchFamily="34" charset="-120"/>
                        </a:rPr>
                        <a:t>Matched us</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2100"/>
                        </a:lnSpc>
                        <a:buNone/>
                      </a:pPr>
                      <a:r>
                        <a:rPr lang="en-US" sz="1500" b="1" dirty="0">
                          <a:solidFill>
                            <a:srgbClr val="1E2329"/>
                          </a:solidFill>
                          <a:latin typeface="IBM Plex Sans" pitchFamily="34" charset="0"/>
                          <a:ea typeface="IBM Plex Sans" pitchFamily="34" charset="-122"/>
                          <a:cs typeface="IBM Plex Sans" pitchFamily="34" charset="-120"/>
                        </a:rPr>
                        <a:t>Agreement</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2100"/>
                        </a:lnSpc>
                        <a:buNone/>
                      </a:pPr>
                      <a:r>
                        <a:rPr lang="en-US" sz="1500" b="1" dirty="0">
                          <a:solidFill>
                            <a:srgbClr val="1E2329"/>
                          </a:solidFill>
                          <a:latin typeface="IBM Plex Sans" pitchFamily="34" charset="0"/>
                          <a:ea typeface="IBM Plex Sans" pitchFamily="34" charset="-122"/>
                          <a:cs typeface="IBM Plex Sans" pitchFamily="34" charset="-120"/>
                        </a:rPr>
                        <a:t>Negative (30)</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2100"/>
                        </a:lnSpc>
                        <a:buNone/>
                      </a:pPr>
                      <a:r>
                        <a:rPr lang="en-US" sz="1500" b="1" dirty="0">
                          <a:solidFill>
                            <a:srgbClr val="1E2329"/>
                          </a:solidFill>
                          <a:latin typeface="IBM Plex Sans" pitchFamily="34" charset="0"/>
                          <a:ea typeface="IBM Plex Sans" pitchFamily="34" charset="-122"/>
                          <a:cs typeface="IBM Plex Sans" pitchFamily="34" charset="-120"/>
                        </a:rPr>
                        <a:t>Neutral (26)</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tc>
                  <a:txBody>
                    <a:bodyPr/>
                    <a:lstStyle/>
                    <a:p>
                      <a:pPr marL="0" indent="0" algn="r">
                        <a:lnSpc>
                          <a:spcPts val="2100"/>
                        </a:lnSpc>
                        <a:buNone/>
                      </a:pPr>
                      <a:r>
                        <a:rPr lang="en-US" sz="1500" b="1" dirty="0">
                          <a:solidFill>
                            <a:srgbClr val="1E2329"/>
                          </a:solidFill>
                          <a:latin typeface="IBM Plex Sans" pitchFamily="34" charset="0"/>
                          <a:ea typeface="IBM Plex Sans" pitchFamily="34" charset="-122"/>
                          <a:cs typeface="IBM Plex Sans" pitchFamily="34" charset="-120"/>
                        </a:rPr>
                        <a:t>Positive (18)</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2E0DB"/>
                    </a:solidFill>
                  </a:tcPr>
                </a:tc>
                <a:extLst>
                  <a:ext uri="{0D108BD9-81ED-4DB2-BD59-A6C34878D82A}">
                    <a16:rowId xmlns:a16="http://schemas.microsoft.com/office/drawing/2014/main" val="10000"/>
                  </a:ext>
                </a:extLst>
              </a:tr>
              <a:tr h="774700">
                <a:tc>
                  <a:txBody>
                    <a:bodyPr/>
                    <a:lstStyle/>
                    <a:p>
                      <a:pPr marL="0" indent="0">
                        <a:lnSpc>
                          <a:spcPts val="2100"/>
                        </a:lnSpc>
                        <a:buNone/>
                      </a:pPr>
                      <a:r>
                        <a:rPr lang="en-US" sz="1500" dirty="0">
                          <a:solidFill>
                            <a:srgbClr val="1E2329"/>
                          </a:solidFill>
                          <a:latin typeface="IBM Plex Sans" pitchFamily="34" charset="0"/>
                          <a:ea typeface="IBM Plex Sans" pitchFamily="34" charset="-122"/>
                          <a:cs typeface="IBM Plex Sans" pitchFamily="34" charset="-120"/>
                        </a:rPr>
                        <a:t>XLM-RoBERTa (ours)</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52/74</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2C5FCF"/>
                          </a:solidFill>
                          <a:latin typeface="IBM Plex Sans" pitchFamily="34" charset="0"/>
                          <a:ea typeface="IBM Plex Sans" pitchFamily="34" charset="-122"/>
                          <a:cs typeface="IBM Plex Sans" pitchFamily="34" charset="-120"/>
                        </a:rPr>
                        <a:t>70.3%</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23</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17</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12</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1"/>
                  </a:ext>
                </a:extLst>
              </a:tr>
              <a:tr h="508000">
                <a:tc>
                  <a:txBody>
                    <a:bodyPr/>
                    <a:lstStyle/>
                    <a:p>
                      <a:pPr marL="0" indent="0">
                        <a:lnSpc>
                          <a:spcPts val="2100"/>
                        </a:lnSpc>
                        <a:buNone/>
                      </a:pPr>
                      <a:r>
                        <a:rPr lang="en-US" sz="1500" dirty="0">
                          <a:solidFill>
                            <a:srgbClr val="1E2329"/>
                          </a:solidFill>
                          <a:latin typeface="IBM Plex Sans" pitchFamily="34" charset="0"/>
                          <a:ea typeface="IBM Plex Sans" pitchFamily="34" charset="-122"/>
                          <a:cs typeface="IBM Plex Sans" pitchFamily="34" charset="-120"/>
                        </a:rPr>
                        <a:t>DistilBERT</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39/74</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52.7%</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18</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13</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8</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2"/>
                  </a:ext>
                </a:extLst>
              </a:tr>
              <a:tr h="774700">
                <a:tc>
                  <a:txBody>
                    <a:bodyPr/>
                    <a:lstStyle/>
                    <a:p>
                      <a:pPr marL="0" indent="0">
                        <a:lnSpc>
                          <a:spcPts val="2100"/>
                        </a:lnSpc>
                        <a:buNone/>
                      </a:pPr>
                      <a:r>
                        <a:rPr lang="en-US" sz="1500" dirty="0">
                          <a:solidFill>
                            <a:srgbClr val="1E2329"/>
                          </a:solidFill>
                          <a:latin typeface="IBM Plex Sans" pitchFamily="34" charset="0"/>
                          <a:ea typeface="IBM Plex Sans" pitchFamily="34" charset="-122"/>
                          <a:cs typeface="IBM Plex Sans" pitchFamily="34" charset="-120"/>
                        </a:rPr>
                        <a:t>Word-list baseline</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31/74</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41.9%</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3</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22</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tc>
                  <a:txBody>
                    <a:bodyPr/>
                    <a:lstStyle/>
                    <a:p>
                      <a:pPr marL="0" indent="0" algn="r">
                        <a:lnSpc>
                          <a:spcPts val="2100"/>
                        </a:lnSpc>
                        <a:buNone/>
                      </a:pPr>
                      <a:r>
                        <a:rPr lang="en-US" sz="1500" dirty="0">
                          <a:solidFill>
                            <a:srgbClr val="1E2329"/>
                          </a:solidFill>
                          <a:latin typeface="IBM Plex Sans" pitchFamily="34" charset="0"/>
                          <a:ea typeface="IBM Plex Sans" pitchFamily="34" charset="-122"/>
                          <a:cs typeface="IBM Plex Sans" pitchFamily="34" charset="-120"/>
                        </a:rPr>
                        <a:t>6</a:t>
                      </a:r>
                      <a:endParaRPr lang="en-US" sz="1500" dirty="0">
                        <a:latin typeface="IBM Plex Sans" charset="0"/>
                        <a:ea typeface="IBM Plex Sans" charset="0"/>
                        <a:cs typeface="IBM Plex Sans" charset="0"/>
                      </a:endParaRPr>
                    </a:p>
                  </a:txBody>
                  <a:tcPr marL="152400" marR="152400" marT="114300" marB="114300">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3C1B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4798020"/>
            <a:ext cx="5284724"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2329"/>
                </a:solidFill>
                <a:latin typeface="IBM Plex Sans" pitchFamily="34" charset="0"/>
                <a:ea typeface="IBM Plex Sans" pitchFamily="34" charset="-122"/>
                <a:cs typeface="IBM Plex Sans" pitchFamily="34" charset="-120"/>
              </a:rPr>
              <a:t>RoBERTa won in every category,</a:t>
            </a:r>
            <a:r>
              <a:rPr lang="en-US" sz="1400" dirty="0">
                <a:solidFill>
                  <a:srgbClr val="4A525A"/>
                </a:solidFill>
                <a:latin typeface="IBM Plex Sans" pitchFamily="34" charset="0"/>
                <a:ea typeface="IBM Plex Sans" pitchFamily="34" charset="-122"/>
                <a:cs typeface="IBM Plex Sans" pitchFamily="34" charset="-120"/>
              </a:rPr>
              <a:t> but still disagreed with us 22 times.</a:t>
            </a:r>
            <a:endParaRPr lang="en-US" sz="1400" dirty="0"/>
          </a:p>
        </p:txBody>
      </p:sp>
      <p:sp>
        <p:nvSpPr>
          <p:cNvPr id="6" name="Text 3"/>
          <p:cNvSpPr/>
          <p:nvPr/>
        </p:nvSpPr>
        <p:spPr>
          <a:xfrm>
            <a:off x="6248400" y="4798020"/>
            <a:ext cx="5284724"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E2329"/>
                </a:solidFill>
                <a:latin typeface="IBM Plex Sans" pitchFamily="34" charset="0"/>
                <a:ea typeface="IBM Plex Sans" pitchFamily="34" charset="-122"/>
                <a:cs typeface="IBM Plex Sans" pitchFamily="34" charset="-120"/>
              </a:rPr>
              <a:t>The baseline looks good on neutral</a:t>
            </a:r>
            <a:r>
              <a:rPr lang="en-US" sz="1400" dirty="0">
                <a:solidFill>
                  <a:srgbClr val="4A525A"/>
                </a:solidFill>
                <a:latin typeface="IBM Plex Sans" pitchFamily="34" charset="0"/>
                <a:ea typeface="IBM Plex Sans" pitchFamily="34" charset="-122"/>
                <a:cs typeface="IBM Plex Sans" pitchFamily="34" charset="-120"/>
              </a:rPr>
              <a:t> only because it said “neutral” for 59 of the 74 posts.</a:t>
            </a:r>
            <a:endParaRPr lang="en-US" sz="1400" dirty="0"/>
          </a:p>
        </p:txBody>
      </p:sp>
      <p:sp>
        <p:nvSpPr>
          <p:cNvPr id="7" name="Text 4"/>
          <p:cNvSpPr/>
          <p:nvPr/>
        </p:nvSpPr>
        <p:spPr>
          <a:xfrm>
            <a:off x="11236920" y="6238280"/>
            <a:ext cx="14228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E2329"/>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4F2EC"/>
                </a:solidFill>
                <a:latin typeface="IBM Plex Sans" pitchFamily="34" charset="0"/>
                <a:ea typeface="IBM Plex Sans" pitchFamily="34" charset="-122"/>
                <a:cs typeface="IBM Plex Sans" pitchFamily="34" charset="-120"/>
              </a:rPr>
              <a:t>The failure that taught us the most</a:t>
            </a:r>
            <a:endParaRPr lang="en-US" sz="3200" dirty="0"/>
          </a:p>
        </p:txBody>
      </p:sp>
      <p:sp>
        <p:nvSpPr>
          <p:cNvPr id="3" name="Text 1"/>
          <p:cNvSpPr/>
          <p:nvPr/>
        </p:nvSpPr>
        <p:spPr>
          <a:xfrm>
            <a:off x="812800" y="1564630"/>
            <a:ext cx="10464800" cy="914400"/>
          </a:xfrm>
          <a:prstGeom prst="rect">
            <a:avLst/>
          </a:prstGeom>
          <a:noFill/>
          <a:ln/>
        </p:spPr>
        <p:txBody>
          <a:bodyPr wrap="square" lIns="0" tIns="0" rIns="0" bIns="0" rtlCol="0" anchor="t">
            <a:normAutofit/>
          </a:bodyPr>
          <a:lstStyle/>
          <a:p>
            <a:pPr marL="0" indent="0" algn="l">
              <a:lnSpc>
                <a:spcPts val="3500"/>
              </a:lnSpc>
              <a:buNone/>
            </a:pPr>
            <a:r>
              <a:rPr lang="en-US" sz="2800" i="1" dirty="0">
                <a:solidFill>
                  <a:srgbClr val="F4F2EC"/>
                </a:solidFill>
                <a:latin typeface="IBM Plex Sans" pitchFamily="34" charset="0"/>
                <a:ea typeface="IBM Plex Sans" pitchFamily="34" charset="-122"/>
                <a:cs typeface="IBM Plex Sans" pitchFamily="34" charset="-120"/>
              </a:rPr>
              <a:t>“There's your advertising slogan — ‘ChatGPT — Not quite as bad as heroin!’”</a:t>
            </a:r>
            <a:endParaRPr lang="en-US" sz="2800" dirty="0"/>
          </a:p>
        </p:txBody>
      </p:sp>
      <p:sp>
        <p:nvSpPr>
          <p:cNvPr id="4" name="Text 2"/>
          <p:cNvSpPr/>
          <p:nvPr/>
        </p:nvSpPr>
        <p:spPr>
          <a:xfrm>
            <a:off x="812800" y="2758430"/>
            <a:ext cx="1864420" cy="502890"/>
          </a:xfrm>
          <a:prstGeom prst="roundRect">
            <a:avLst>
              <a:gd name="adj" fmla="val 10102"/>
            </a:avLst>
          </a:prstGeom>
          <a:solidFill>
            <a:srgbClr val="2D343C"/>
          </a:solidFill>
          <a:ln/>
        </p:spPr>
        <p:txBody>
          <a:bodyPr wrap="none" lIns="0" tIns="0" rIns="0" bIns="0" rtlCol="0" anchor="ctr">
            <a:normAutofit/>
          </a:bodyPr>
          <a:lstStyle/>
          <a:p>
            <a:pPr marL="0" indent="0" algn="ctr">
              <a:lnSpc>
                <a:spcPts val="1960"/>
              </a:lnSpc>
              <a:buNone/>
            </a:pPr>
            <a:r>
              <a:rPr lang="en-US" sz="1400" dirty="0">
                <a:solidFill>
                  <a:srgbClr val="F4F2EC"/>
                </a:solidFill>
                <a:latin typeface="IBM Plex Sans" pitchFamily="34" charset="0"/>
                <a:ea typeface="IBM Plex Sans" pitchFamily="34" charset="-122"/>
                <a:cs typeface="IBM Plex Sans" pitchFamily="34" charset="-120"/>
              </a:rPr>
              <a:t>We said: </a:t>
            </a:r>
            <a:r>
              <a:rPr lang="en-US" sz="1400" b="1" dirty="0">
                <a:solidFill>
                  <a:srgbClr val="F08A5D"/>
                </a:solidFill>
                <a:latin typeface="IBM Plex Sans" pitchFamily="34" charset="0"/>
                <a:ea typeface="IBM Plex Sans" pitchFamily="34" charset="-122"/>
                <a:cs typeface="IBM Plex Sans" pitchFamily="34" charset="-120"/>
              </a:rPr>
              <a:t>Negative</a:t>
            </a:r>
            <a:endParaRPr lang="en-US" sz="1400" dirty="0"/>
          </a:p>
        </p:txBody>
      </p:sp>
      <p:sp>
        <p:nvSpPr>
          <p:cNvPr id="5" name="Text 3"/>
          <p:cNvSpPr/>
          <p:nvPr/>
        </p:nvSpPr>
        <p:spPr>
          <a:xfrm>
            <a:off x="2829620" y="2758430"/>
            <a:ext cx="2222649" cy="502890"/>
          </a:xfrm>
          <a:prstGeom prst="roundRect">
            <a:avLst>
              <a:gd name="adj" fmla="val 10102"/>
            </a:avLst>
          </a:prstGeom>
          <a:solidFill>
            <a:srgbClr val="2D343C"/>
          </a:solidFill>
          <a:ln/>
        </p:spPr>
        <p:txBody>
          <a:bodyPr wrap="none" lIns="0" tIns="0" rIns="0" bIns="0" rtlCol="0" anchor="ctr">
            <a:normAutofit/>
          </a:bodyPr>
          <a:lstStyle/>
          <a:p>
            <a:pPr marL="0" indent="0" algn="ctr">
              <a:lnSpc>
                <a:spcPts val="1960"/>
              </a:lnSpc>
              <a:buNone/>
            </a:pPr>
            <a:r>
              <a:rPr lang="en-US" sz="1400" dirty="0">
                <a:solidFill>
                  <a:srgbClr val="F4F2EC"/>
                </a:solidFill>
                <a:latin typeface="IBM Plex Sans" pitchFamily="34" charset="0"/>
                <a:ea typeface="IBM Plex Sans" pitchFamily="34" charset="-122"/>
                <a:cs typeface="IBM Plex Sans" pitchFamily="34" charset="-120"/>
              </a:rPr>
              <a:t>RoBERTa said: </a:t>
            </a:r>
            <a:r>
              <a:rPr lang="en-US" sz="1400" b="1" dirty="0">
                <a:solidFill>
                  <a:srgbClr val="C9CDD2"/>
                </a:solidFill>
                <a:latin typeface="IBM Plex Sans" pitchFamily="34" charset="0"/>
                <a:ea typeface="IBM Plex Sans" pitchFamily="34" charset="-122"/>
                <a:cs typeface="IBM Plex Sans" pitchFamily="34" charset="-120"/>
              </a:rPr>
              <a:t>Neutral</a:t>
            </a:r>
            <a:endParaRPr lang="en-US" sz="1400" dirty="0"/>
          </a:p>
        </p:txBody>
      </p:sp>
      <p:sp>
        <p:nvSpPr>
          <p:cNvPr id="6" name="Text 4"/>
          <p:cNvSpPr/>
          <p:nvPr/>
        </p:nvSpPr>
        <p:spPr>
          <a:xfrm>
            <a:off x="812800" y="3566120"/>
            <a:ext cx="528472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8A5D"/>
                </a:solidFill>
                <a:latin typeface="IBM Plex Sans" pitchFamily="34" charset="0"/>
                <a:ea typeface="IBM Plex Sans" pitchFamily="34" charset="-122"/>
                <a:cs typeface="IBM Plex Sans" pitchFamily="34" charset="-120"/>
              </a:rPr>
              <a:t>What went wrong</a:t>
            </a:r>
            <a:endParaRPr lang="en-US" sz="1600" dirty="0"/>
          </a:p>
        </p:txBody>
      </p:sp>
      <p:sp>
        <p:nvSpPr>
          <p:cNvPr id="7" name="Text 5"/>
          <p:cNvSpPr/>
          <p:nvPr/>
        </p:nvSpPr>
        <p:spPr>
          <a:xfrm>
            <a:off x="812800" y="3886150"/>
            <a:ext cx="5284724"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9DC"/>
                </a:solidFill>
                <a:latin typeface="IBM Plex Sans" pitchFamily="34" charset="0"/>
                <a:ea typeface="IBM Plex Sans" pitchFamily="34" charset="-122"/>
                <a:cs typeface="IBM Plex Sans" pitchFamily="34" charset="-120"/>
              </a:rPr>
              <a:t>It's obvious sarcasm. The model took “not quite as bad” at face value and missed the point.</a:t>
            </a:r>
            <a:endParaRPr lang="en-US" sz="1400" dirty="0"/>
          </a:p>
        </p:txBody>
      </p:sp>
      <p:sp>
        <p:nvSpPr>
          <p:cNvPr id="8" name="Text 6"/>
          <p:cNvSpPr/>
          <p:nvPr/>
        </p:nvSpPr>
        <p:spPr>
          <a:xfrm>
            <a:off x="6248400" y="3566120"/>
            <a:ext cx="528472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8A5D"/>
                </a:solidFill>
                <a:latin typeface="IBM Plex Sans" pitchFamily="34" charset="0"/>
                <a:ea typeface="IBM Plex Sans" pitchFamily="34" charset="-122"/>
                <a:cs typeface="IBM Plex Sans" pitchFamily="34" charset="-120"/>
              </a:rPr>
              <a:t>What we learned</a:t>
            </a:r>
            <a:endParaRPr lang="en-US" sz="1600" dirty="0"/>
          </a:p>
        </p:txBody>
      </p:sp>
      <p:sp>
        <p:nvSpPr>
          <p:cNvPr id="9" name="Text 7"/>
          <p:cNvSpPr/>
          <p:nvPr/>
        </p:nvSpPr>
        <p:spPr>
          <a:xfrm>
            <a:off x="6248400" y="3886150"/>
            <a:ext cx="5284724"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6D9DC"/>
                </a:solidFill>
                <a:latin typeface="IBM Plex Sans" pitchFamily="34" charset="0"/>
                <a:ea typeface="IBM Plex Sans" pitchFamily="34" charset="-122"/>
                <a:cs typeface="IBM Plex Sans" pitchFamily="34" charset="-120"/>
              </a:rPr>
              <a:t>6 of our 30 negative posts came out as neutral. Missed negatives hide complaints, so the analyst always has to read the posts before acting.</a:t>
            </a:r>
            <a:endParaRPr lang="en-US" sz="1400" dirty="0"/>
          </a:p>
        </p:txBody>
      </p:sp>
      <p:sp>
        <p:nvSpPr>
          <p:cNvPr id="10" name="Text 8"/>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AA1A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4F2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E2329"/>
                </a:solidFill>
                <a:latin typeface="IBM Plex Sans" pitchFamily="34" charset="0"/>
                <a:ea typeface="IBM Plex Sans" pitchFamily="34" charset="-122"/>
                <a:cs typeface="IBM Plex Sans" pitchFamily="34" charset="-120"/>
              </a:rPr>
              <a:t>Limits and ethics</a:t>
            </a:r>
            <a:endParaRPr lang="en-US" sz="3200" dirty="0"/>
          </a:p>
        </p:txBody>
      </p:sp>
      <p:sp>
        <p:nvSpPr>
          <p:cNvPr id="3" name="Shape 1"/>
          <p:cNvSpPr/>
          <p:nvPr/>
        </p:nvSpPr>
        <p:spPr>
          <a:xfrm>
            <a:off x="815975" y="1517005"/>
            <a:ext cx="5200650" cy="1479451"/>
          </a:xfrm>
          <a:prstGeom prst="roundRect">
            <a:avLst>
              <a:gd name="adj" fmla="val 4936"/>
            </a:avLst>
          </a:prstGeom>
          <a:solidFill>
            <a:srgbClr val="FBFAF7"/>
          </a:solidFill>
          <a:ln w="6350">
            <a:solidFill>
              <a:srgbClr val="DDD8CC"/>
            </a:solidFill>
            <a:prstDash val="solid"/>
          </a:ln>
        </p:spPr>
        <p:txBody>
          <a:bodyPr/>
          <a:lstStyle/>
          <a:p>
            <a:endParaRPr lang="en-NL"/>
          </a:p>
        </p:txBody>
      </p:sp>
      <p:sp>
        <p:nvSpPr>
          <p:cNvPr id="4" name="Text 2"/>
          <p:cNvSpPr/>
          <p:nvPr/>
        </p:nvSpPr>
        <p:spPr>
          <a:xfrm>
            <a:off x="1022350" y="1723380"/>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329"/>
                </a:solidFill>
                <a:latin typeface="IBM Plex Sans" pitchFamily="34" charset="0"/>
                <a:ea typeface="IBM Plex Sans" pitchFamily="34" charset="-122"/>
                <a:cs typeface="IBM Plex Sans" pitchFamily="34" charset="-120"/>
              </a:rPr>
              <a:t>Who is missing</a:t>
            </a:r>
            <a:endParaRPr lang="en-US" sz="1600" dirty="0"/>
          </a:p>
        </p:txBody>
      </p:sp>
      <p:sp>
        <p:nvSpPr>
          <p:cNvPr id="5" name="Text 3"/>
          <p:cNvSpPr/>
          <p:nvPr/>
        </p:nvSpPr>
        <p:spPr>
          <a:xfrm>
            <a:off x="1022350" y="2043410"/>
            <a:ext cx="4931537"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Most data is from Bluesky: English-speaking, tech-savvy people who post. People who don't post or use other platforms aren't in it.</a:t>
            </a:r>
            <a:endParaRPr lang="en-US" sz="1400" dirty="0"/>
          </a:p>
        </p:txBody>
      </p:sp>
      <p:sp>
        <p:nvSpPr>
          <p:cNvPr id="6" name="Shape 4"/>
          <p:cNvSpPr/>
          <p:nvPr/>
        </p:nvSpPr>
        <p:spPr>
          <a:xfrm>
            <a:off x="6175375" y="1517005"/>
            <a:ext cx="5200650" cy="1479451"/>
          </a:xfrm>
          <a:prstGeom prst="roundRect">
            <a:avLst>
              <a:gd name="adj" fmla="val 4936"/>
            </a:avLst>
          </a:prstGeom>
          <a:solidFill>
            <a:srgbClr val="FBFAF7"/>
          </a:solidFill>
          <a:ln w="6350">
            <a:solidFill>
              <a:srgbClr val="DDD8CC"/>
            </a:solidFill>
            <a:prstDash val="solid"/>
          </a:ln>
        </p:spPr>
        <p:txBody>
          <a:bodyPr/>
          <a:lstStyle/>
          <a:p>
            <a:endParaRPr lang="en-NL"/>
          </a:p>
        </p:txBody>
      </p:sp>
      <p:sp>
        <p:nvSpPr>
          <p:cNvPr id="7" name="Text 5"/>
          <p:cNvSpPr/>
          <p:nvPr/>
        </p:nvSpPr>
        <p:spPr>
          <a:xfrm>
            <a:off x="6381750" y="1723380"/>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329"/>
                </a:solidFill>
                <a:latin typeface="IBM Plex Sans" pitchFamily="34" charset="0"/>
                <a:ea typeface="IBM Plex Sans" pitchFamily="34" charset="-122"/>
                <a:cs typeface="IBM Plex Sans" pitchFamily="34" charset="-120"/>
              </a:rPr>
              <a:t>What the model misreads</a:t>
            </a:r>
            <a:endParaRPr lang="en-US" sz="1600" dirty="0"/>
          </a:p>
        </p:txBody>
      </p:sp>
      <p:sp>
        <p:nvSpPr>
          <p:cNvPr id="8" name="Text 6"/>
          <p:cNvSpPr/>
          <p:nvPr/>
        </p:nvSpPr>
        <p:spPr>
          <a:xfrm>
            <a:off x="6381750" y="2043410"/>
            <a:ext cx="493153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Sarcasm, slang and mixed opinions. A negative post that mentions ChatGPT isn't always about ChatGPT.</a:t>
            </a:r>
            <a:endParaRPr lang="en-US" sz="1400" dirty="0"/>
          </a:p>
        </p:txBody>
      </p:sp>
      <p:sp>
        <p:nvSpPr>
          <p:cNvPr id="9" name="Shape 7"/>
          <p:cNvSpPr/>
          <p:nvPr/>
        </p:nvSpPr>
        <p:spPr>
          <a:xfrm>
            <a:off x="815975" y="3155206"/>
            <a:ext cx="5200650" cy="1230561"/>
          </a:xfrm>
          <a:prstGeom prst="roundRect">
            <a:avLst>
              <a:gd name="adj" fmla="val 5934"/>
            </a:avLst>
          </a:prstGeom>
          <a:solidFill>
            <a:srgbClr val="FBFAF7"/>
          </a:solidFill>
          <a:ln w="6350">
            <a:solidFill>
              <a:srgbClr val="DDD8CC"/>
            </a:solidFill>
            <a:prstDash val="solid"/>
          </a:ln>
        </p:spPr>
        <p:txBody>
          <a:bodyPr/>
          <a:lstStyle/>
          <a:p>
            <a:endParaRPr lang="en-NL"/>
          </a:p>
        </p:txBody>
      </p:sp>
      <p:sp>
        <p:nvSpPr>
          <p:cNvPr id="10" name="Text 8"/>
          <p:cNvSpPr/>
          <p:nvPr/>
        </p:nvSpPr>
        <p:spPr>
          <a:xfrm>
            <a:off x="1022350" y="336158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329"/>
                </a:solidFill>
                <a:latin typeface="IBM Plex Sans" pitchFamily="34" charset="0"/>
                <a:ea typeface="IBM Plex Sans" pitchFamily="34" charset="-122"/>
                <a:cs typeface="IBM Plex Sans" pitchFamily="34" charset="-120"/>
              </a:rPr>
              <a:t>Real people's words</a:t>
            </a:r>
            <a:endParaRPr lang="en-US" sz="1600" dirty="0"/>
          </a:p>
        </p:txBody>
      </p:sp>
      <p:sp>
        <p:nvSpPr>
          <p:cNvPr id="11" name="Text 9"/>
          <p:cNvSpPr/>
          <p:nvPr/>
        </p:nvSpPr>
        <p:spPr>
          <a:xfrm>
            <a:off x="1022350" y="3681611"/>
            <a:ext cx="493153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Removing names doesn't make a post anonymous. It runs locally and we don't publish the data.</a:t>
            </a:r>
            <a:endParaRPr lang="en-US" sz="1400" dirty="0"/>
          </a:p>
        </p:txBody>
      </p:sp>
      <p:sp>
        <p:nvSpPr>
          <p:cNvPr id="12" name="Shape 10"/>
          <p:cNvSpPr/>
          <p:nvPr/>
        </p:nvSpPr>
        <p:spPr>
          <a:xfrm>
            <a:off x="6175375" y="3155206"/>
            <a:ext cx="5200650" cy="1230561"/>
          </a:xfrm>
          <a:prstGeom prst="roundRect">
            <a:avLst>
              <a:gd name="adj" fmla="val 5934"/>
            </a:avLst>
          </a:prstGeom>
          <a:solidFill>
            <a:srgbClr val="FBFAF7"/>
          </a:solidFill>
          <a:ln w="6350">
            <a:solidFill>
              <a:srgbClr val="DDD8CC"/>
            </a:solidFill>
            <a:prstDash val="solid"/>
          </a:ln>
        </p:spPr>
        <p:txBody>
          <a:bodyPr/>
          <a:lstStyle/>
          <a:p>
            <a:endParaRPr lang="en-NL"/>
          </a:p>
        </p:txBody>
      </p:sp>
      <p:sp>
        <p:nvSpPr>
          <p:cNvPr id="13" name="Text 11"/>
          <p:cNvSpPr/>
          <p:nvPr/>
        </p:nvSpPr>
        <p:spPr>
          <a:xfrm>
            <a:off x="6381750" y="336158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E2329"/>
                </a:solidFill>
                <a:latin typeface="IBM Plex Sans" pitchFamily="34" charset="0"/>
                <a:ea typeface="IBM Plex Sans" pitchFamily="34" charset="-122"/>
                <a:cs typeface="IBM Plex Sans" pitchFamily="34" charset="-120"/>
              </a:rPr>
              <a:t>Source terms</a:t>
            </a:r>
            <a:endParaRPr lang="en-US" sz="1600" dirty="0"/>
          </a:p>
        </p:txBody>
      </p:sp>
      <p:sp>
        <p:nvSpPr>
          <p:cNvPr id="14" name="Text 12"/>
          <p:cNvSpPr/>
          <p:nvPr/>
        </p:nvSpPr>
        <p:spPr>
          <a:xfrm>
            <a:off x="6381750" y="3681611"/>
            <a:ext cx="493153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5A"/>
                </a:solidFill>
                <a:latin typeface="IBM Plex Sans" pitchFamily="34" charset="0"/>
                <a:ea typeface="IBM Plex Sans" pitchFamily="34" charset="-122"/>
                <a:cs typeface="IBM Plex Sans" pitchFamily="34" charset="-120"/>
              </a:rPr>
              <a:t>Apple's terms don't allow automated scraping, so the App Store source should be switched off without permission.</a:t>
            </a:r>
            <a:endParaRPr lang="en-US" sz="1400" dirty="0"/>
          </a:p>
        </p:txBody>
      </p:sp>
      <p:sp>
        <p:nvSpPr>
          <p:cNvPr id="15" name="Text 13"/>
          <p:cNvSpPr/>
          <p:nvPr/>
        </p:nvSpPr>
        <p:spPr>
          <a:xfrm>
            <a:off x="812800" y="4642941"/>
            <a:ext cx="10566400" cy="853380"/>
          </a:xfrm>
          <a:prstGeom prst="roundRect">
            <a:avLst>
              <a:gd name="adj" fmla="val 5953"/>
            </a:avLst>
          </a:prstGeom>
          <a:solidFill>
            <a:srgbClr val="E1E8F7"/>
          </a:solidFill>
          <a:ln/>
        </p:spPr>
        <p:txBody>
          <a:bodyPr wrap="square" lIns="289921" tIns="162921" rIns="0" bIns="137521" rtlCol="0" anchor="t">
            <a:normAutofit/>
          </a:bodyPr>
          <a:lstStyle/>
          <a:p>
            <a:pPr marL="0" indent="0" algn="l">
              <a:lnSpc>
                <a:spcPts val="1960"/>
              </a:lnSpc>
              <a:buNone/>
            </a:pPr>
            <a:r>
              <a:rPr lang="en-US" sz="1400" b="1" dirty="0">
                <a:solidFill>
                  <a:srgbClr val="1E2329"/>
                </a:solidFill>
                <a:latin typeface="IBM Plex Sans" pitchFamily="34" charset="0"/>
                <a:ea typeface="IBM Plex Sans" pitchFamily="34" charset="-122"/>
                <a:cs typeface="IBM Plex Sans" pitchFamily="34" charset="-120"/>
              </a:rPr>
              <a:t>What we did about it:</a:t>
            </a:r>
            <a:r>
              <a:rPr lang="en-US" sz="1400" dirty="0">
                <a:solidFill>
                  <a:srgbClr val="1E2329"/>
                </a:solidFill>
                <a:latin typeface="IBM Plex Sans" pitchFamily="34" charset="0"/>
                <a:ea typeface="IBM Plex Sans" pitchFamily="34" charset="-122"/>
                <a:cs typeface="IBM Plex Sans" pitchFamily="34" charset="-120"/>
              </a:rPr>
              <a:t> a separate Comparisons group, counts next to percentages, and the original posts always one click away.</a:t>
            </a:r>
            <a:endParaRPr lang="en-US" sz="1400" dirty="0"/>
          </a:p>
        </p:txBody>
      </p:sp>
      <p:sp>
        <p:nvSpPr>
          <p:cNvPr id="16" name="Shape 14"/>
          <p:cNvSpPr/>
          <p:nvPr/>
        </p:nvSpPr>
        <p:spPr>
          <a:xfrm>
            <a:off x="812800" y="4642941"/>
            <a:ext cx="10566400" cy="853380"/>
          </a:xfrm>
          <a:custGeom>
            <a:avLst/>
            <a:gdLst/>
            <a:ahLst/>
            <a:cxnLst/>
            <a:rect l="l" t="t" r="r" b="b"/>
            <a:pathLst>
              <a:path w="10566400" h="853380">
                <a:moveTo>
                  <a:pt x="50800" y="853380"/>
                </a:moveTo>
                <a:lnTo>
                  <a:pt x="50800" y="853380"/>
                </a:lnTo>
                <a:arcTo wR="50800" hR="50800" stAng="5400000" swAng="5400000"/>
                <a:lnTo>
                  <a:pt x="0" y="50800"/>
                </a:lnTo>
                <a:arcTo wR="50800" hR="50800" stAng="10800000" swAng="5400000"/>
                <a:lnTo>
                  <a:pt x="50800" y="0"/>
                </a:lnTo>
                <a:lnTo>
                  <a:pt x="50800" y="853380"/>
                </a:lnTo>
                <a:close/>
              </a:path>
            </a:pathLst>
          </a:custGeom>
          <a:solidFill>
            <a:srgbClr val="2C5FCF"/>
          </a:solidFill>
          <a:ln/>
        </p:spPr>
        <p:txBody>
          <a:bodyPr/>
          <a:lstStyle/>
          <a:p>
            <a:endParaRPr lang="en-NL"/>
          </a:p>
        </p:txBody>
      </p:sp>
      <p:sp>
        <p:nvSpPr>
          <p:cNvPr id="17" name="Text 15"/>
          <p:cNvSpPr/>
          <p:nvPr/>
        </p:nvSpPr>
        <p:spPr>
          <a:xfrm>
            <a:off x="11145490" y="6238280"/>
            <a:ext cx="23371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279"/>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E2329"/>
        </a:solidFill>
        <a:effectLst/>
      </p:bgPr>
    </p:bg>
    <p:spTree>
      <p:nvGrpSpPr>
        <p:cNvPr id="1" name=""/>
        <p:cNvGrpSpPr/>
        <p:nvPr/>
      </p:nvGrpSpPr>
      <p:grpSpPr>
        <a:xfrm>
          <a:off x="0" y="0"/>
          <a:ext cx="0" cy="0"/>
          <a:chOff x="0" y="0"/>
          <a:chExt cx="0" cy="0"/>
        </a:xfrm>
      </p:grpSpPr>
      <p:pic>
        <p:nvPicPr>
          <p:cNvPr id="2" name="Image 0" descr="rect"/>
          <p:cNvPicPr>
            <a:picLocks noChangeAspect="1"/>
          </p:cNvPicPr>
          <p:nvPr/>
        </p:nvPicPr>
        <p:blipFill>
          <a:blip r:embed="rId3"/>
          <a:srcRect/>
          <a:stretch/>
        </p:blipFill>
        <p:spPr>
          <a:xfrm>
            <a:off x="812800" y="812800"/>
            <a:ext cx="762000" cy="101600"/>
          </a:xfrm>
          <a:prstGeom prst="rect">
            <a:avLst/>
          </a:prstGeom>
        </p:spPr>
      </p:pic>
      <p:pic>
        <p:nvPicPr>
          <p:cNvPr id="3" name="Image 1" descr="rect"/>
          <p:cNvPicPr>
            <a:picLocks noChangeAspect="1"/>
          </p:cNvPicPr>
          <p:nvPr/>
        </p:nvPicPr>
        <p:blipFill>
          <a:blip r:embed="rId4"/>
          <a:srcRect/>
          <a:stretch/>
        </p:blipFill>
        <p:spPr>
          <a:xfrm>
            <a:off x="1676400" y="812800"/>
            <a:ext cx="762000" cy="101600"/>
          </a:xfrm>
          <a:prstGeom prst="rect">
            <a:avLst/>
          </a:prstGeom>
        </p:spPr>
      </p:pic>
      <p:pic>
        <p:nvPicPr>
          <p:cNvPr id="4" name="Image 2" descr="rect"/>
          <p:cNvPicPr>
            <a:picLocks noChangeAspect="1"/>
          </p:cNvPicPr>
          <p:nvPr/>
        </p:nvPicPr>
        <p:blipFill>
          <a:blip r:embed="rId5"/>
          <a:srcRect/>
          <a:stretch/>
        </p:blipFill>
        <p:spPr>
          <a:xfrm>
            <a:off x="2540000" y="812800"/>
            <a:ext cx="762000" cy="101600"/>
          </a:xfrm>
          <a:prstGeom prst="rect">
            <a:avLst/>
          </a:prstGeom>
        </p:spPr>
      </p:pic>
      <p:sp>
        <p:nvSpPr>
          <p:cNvPr id="5" name="Text 0"/>
          <p:cNvSpPr>
            <a:spLocks noGrp="1"/>
          </p:cNvSpPr>
          <p:nvPr>
            <p:ph type="title"/>
          </p:nvPr>
        </p:nvSpPr>
        <p:spPr>
          <a:xfrm>
            <a:off x="812800" y="2405459"/>
            <a:ext cx="9810750"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4F2EC"/>
                </a:solidFill>
                <a:latin typeface="IBM Plex Sans" pitchFamily="34" charset="0"/>
                <a:ea typeface="IBM Plex Sans" pitchFamily="34" charset="-122"/>
                <a:cs typeface="IBM Plex Sans" pitchFamily="34" charset="-120"/>
              </a:rPr>
              <a:t>Use the chart to find things. Read the posts to decide.</a:t>
            </a:r>
            <a:endParaRPr lang="en-US" sz="4800" dirty="0"/>
          </a:p>
        </p:txBody>
      </p:sp>
      <p:sp>
        <p:nvSpPr>
          <p:cNvPr id="6" name="Text 1"/>
          <p:cNvSpPr/>
          <p:nvPr/>
        </p:nvSpPr>
        <p:spPr>
          <a:xfrm>
            <a:off x="812800" y="39497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D6D9DC"/>
                </a:solidFill>
                <a:latin typeface="IBM Plex Sans" pitchFamily="34" charset="0"/>
                <a:ea typeface="IBM Plex Sans" pitchFamily="34" charset="-122"/>
                <a:cs typeface="IBM Plex Sans" pitchFamily="34" charset="-120"/>
              </a:rPr>
              <a:t>Thanks! Any questions?</a:t>
            </a:r>
            <a:endParaRPr lang="en-US" sz="2000" dirty="0"/>
          </a:p>
        </p:txBody>
      </p:sp>
      <p:sp>
        <p:nvSpPr>
          <p:cNvPr id="7" name="Text 2"/>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BEC4"/>
                </a:solidFill>
                <a:latin typeface="IBM Plex Sans" pitchFamily="34" charset="0"/>
                <a:ea typeface="IBM Plex Sans" pitchFamily="34" charset="-122"/>
                <a:cs typeface="IBM Plex Sans" pitchFamily="34" charset="-120"/>
              </a:rPr>
              <a:t>Jalie Vermeegen &amp; Minhyeok Sung · Demo video and code on our GitHub</a:t>
            </a:r>
            <a:endParaRPr lang="en-US" sz="1400" dirty="0"/>
          </a:p>
        </p:txBody>
      </p:sp>
    </p:spTree>
  </p:cSld>
  <p:clrMapOvr>
    <a:masterClrMapping/>
  </p:clrMapOvr>
</p:sld>
</file>

<file path=ppt/theme/theme1.xml><?xml version="1.0" encoding="utf-8"?>
<a:theme xmlns:a="http://schemas.openxmlformats.org/drawingml/2006/main" name="Live Sentiment for ChatGPT, Claude and Gemini">
  <a:themeElements>
    <a:clrScheme name="Live Sentiment for ChatGPT, Claude and Gemini">
      <a:dk1>
        <a:srgbClr val="1E2329"/>
      </a:dk1>
      <a:lt1>
        <a:srgbClr val="F4F2EC"/>
      </a:lt1>
      <a:dk2>
        <a:srgbClr val="54575A"/>
      </a:dk2>
      <a:lt2>
        <a:srgbClr val="DFDDD9"/>
      </a:lt2>
      <a:accent1>
        <a:srgbClr val="2C5FCF"/>
      </a:accent1>
      <a:accent2>
        <a:srgbClr val="F08A5D"/>
      </a:accent2>
      <a:accent3>
        <a:srgbClr val="4A525A"/>
      </a:accent3>
      <a:accent4>
        <a:srgbClr val="6B7279"/>
      </a:accent4>
      <a:accent5>
        <a:srgbClr val="D6D9DC"/>
      </a:accent5>
      <a:accent6>
        <a:srgbClr val="B9BEC4"/>
      </a:accent6>
      <a:hlink>
        <a:srgbClr val="0563C1"/>
      </a:hlink>
      <a:folHlink>
        <a:srgbClr val="954F72"/>
      </a:folHlink>
    </a:clrScheme>
    <a:fontScheme name="Live Sentiment for ChatGPT, Claude and Gemini">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1566</Words>
  <Application>Microsoft Macintosh PowerPoint</Application>
  <PresentationFormat>Widescreen</PresentationFormat>
  <Paragraphs>151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IBM Plex Mono</vt:lpstr>
      <vt:lpstr>IBM Plex Sans</vt:lpstr>
      <vt:lpstr>Live Sentiment for ChatGPT, Claude and Gemini</vt:lpstr>
      <vt:lpstr>Live Sentiment for  ChatGPT, Claude and Gemini</vt:lpstr>
      <vt:lpstr>The problem</vt:lpstr>
      <vt:lpstr>Our user and his decision</vt:lpstr>
      <vt:lpstr>SDG 9: Industry, Innovation and Infrastructure</vt:lpstr>
      <vt:lpstr>What we built</vt:lpstr>
      <vt:lpstr>The live chart</vt:lpstr>
      <vt:lpstr>Why did the model say that?</vt:lpstr>
      <vt:lpstr>Testing: 74 posts we labelled ourselves</vt:lpstr>
      <vt:lpstr>The failure that taught us the most</vt:lpstr>
      <vt:lpstr>Limits and ethics</vt:lpstr>
      <vt:lpstr>Use the chart to find things. Read the posts to decide.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Live Sentiment for ChatGPT, Claude and Gemini</dc:title>
  <dc:subject/>
  <dc:creator/>
  <cp:lastModifiedBy>Minhyeok Sung</cp:lastModifiedBy>
  <cp:revision>3</cp:revision>
  <dcterms:created xsi:type="dcterms:W3CDTF">2026-10-15T19:07:18Z</dcterms:created>
  <dcterms:modified xsi:type="dcterms:W3CDTF">2026-10-15T21:02:44Z</dcterms:modified>
</cp:coreProperties>
</file>